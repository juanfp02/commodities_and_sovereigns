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7"/>
  </p:notesMasterIdLst>
  <p:sldIdLst>
    <p:sldId id="256" r:id="rId2"/>
    <p:sldId id="265" r:id="rId3"/>
    <p:sldId id="263" r:id="rId4"/>
    <p:sldId id="262" r:id="rId5"/>
    <p:sldId id="264"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009"/>
    <p:restoredTop sz="94719"/>
  </p:normalViewPr>
  <p:slideViewPr>
    <p:cSldViewPr snapToGrid="0">
      <p:cViewPr>
        <p:scale>
          <a:sx n="107" d="100"/>
          <a:sy n="107" d="100"/>
        </p:scale>
        <p:origin x="1352" y="112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notesMaster" Target="notesMasters/notesMaster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2B21875-741A-214E-B5BD-9E5E7B116BF2}" type="datetimeFigureOut">
              <a:rPr lang="en-US" smtClean="0"/>
              <a:t>2/9/26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4234E42-DEB9-AC42-9101-B11649B55775}" type="slidenum">
              <a:rPr lang="en-US" smtClean="0"/>
              <a:t>‹#›</a:t>
            </a:fld>
            <a:endParaRPr lang="en-US"/>
          </a:p>
        </p:txBody>
      </p:sp>
    </p:spTree>
    <p:extLst>
      <p:ext uri="{BB962C8B-B14F-4D97-AF65-F5344CB8AC3E}">
        <p14:creationId xmlns:p14="http://schemas.microsoft.com/office/powerpoint/2010/main" val="572188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3FC829-7408-8E99-21CF-8CAE198EE20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767BE1E-DBD3-E4C3-C392-E86139712CA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7AA5F5A-C983-89DB-55D3-6F4677B0614C}"/>
              </a:ext>
            </a:extLst>
          </p:cNvPr>
          <p:cNvSpPr>
            <a:spLocks noGrp="1"/>
          </p:cNvSpPr>
          <p:nvPr>
            <p:ph type="dt" sz="half" idx="10"/>
          </p:nvPr>
        </p:nvSpPr>
        <p:spPr/>
        <p:txBody>
          <a:bodyPr/>
          <a:lstStyle/>
          <a:p>
            <a:fld id="{5D24FF9D-C949-704A-8396-D2529650C987}" type="datetimeFigureOut">
              <a:rPr lang="en-US" smtClean="0"/>
              <a:t>2/9/26</a:t>
            </a:fld>
            <a:endParaRPr lang="en-US"/>
          </a:p>
        </p:txBody>
      </p:sp>
      <p:sp>
        <p:nvSpPr>
          <p:cNvPr id="5" name="Footer Placeholder 4">
            <a:extLst>
              <a:ext uri="{FF2B5EF4-FFF2-40B4-BE49-F238E27FC236}">
                <a16:creationId xmlns:a16="http://schemas.microsoft.com/office/drawing/2014/main" id="{302BC8B1-62B2-EA07-2B4B-C183B734C97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EC6BC8F-36F0-7463-9BFF-4224614B8044}"/>
              </a:ext>
            </a:extLst>
          </p:cNvPr>
          <p:cNvSpPr>
            <a:spLocks noGrp="1"/>
          </p:cNvSpPr>
          <p:nvPr>
            <p:ph type="sldNum" sz="quarter" idx="12"/>
          </p:nvPr>
        </p:nvSpPr>
        <p:spPr/>
        <p:txBody>
          <a:bodyPr/>
          <a:lstStyle/>
          <a:p>
            <a:fld id="{134B94F9-45DD-BF42-A664-539ED0B48670}" type="slidenum">
              <a:rPr lang="en-US" smtClean="0"/>
              <a:t>‹#›</a:t>
            </a:fld>
            <a:endParaRPr lang="en-US"/>
          </a:p>
        </p:txBody>
      </p:sp>
    </p:spTree>
    <p:extLst>
      <p:ext uri="{BB962C8B-B14F-4D97-AF65-F5344CB8AC3E}">
        <p14:creationId xmlns:p14="http://schemas.microsoft.com/office/powerpoint/2010/main" val="299479264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4BD771-2C74-9BD2-DE85-E750DE2803F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3205EBD-69F6-D7F3-CDD1-057EF9C6675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FD1F472-2DB2-2141-B376-169FF428C119}"/>
              </a:ext>
            </a:extLst>
          </p:cNvPr>
          <p:cNvSpPr>
            <a:spLocks noGrp="1"/>
          </p:cNvSpPr>
          <p:nvPr>
            <p:ph type="dt" sz="half" idx="10"/>
          </p:nvPr>
        </p:nvSpPr>
        <p:spPr/>
        <p:txBody>
          <a:bodyPr/>
          <a:lstStyle/>
          <a:p>
            <a:fld id="{5D24FF9D-C949-704A-8396-D2529650C987}" type="datetimeFigureOut">
              <a:rPr lang="en-US" smtClean="0"/>
              <a:t>2/9/26</a:t>
            </a:fld>
            <a:endParaRPr lang="en-US"/>
          </a:p>
        </p:txBody>
      </p:sp>
      <p:sp>
        <p:nvSpPr>
          <p:cNvPr id="5" name="Footer Placeholder 4">
            <a:extLst>
              <a:ext uri="{FF2B5EF4-FFF2-40B4-BE49-F238E27FC236}">
                <a16:creationId xmlns:a16="http://schemas.microsoft.com/office/drawing/2014/main" id="{061A3315-C1E7-BD7C-D7B8-DA16F126A4C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50DF012-1A82-CE77-4524-626A0F3FADFE}"/>
              </a:ext>
            </a:extLst>
          </p:cNvPr>
          <p:cNvSpPr>
            <a:spLocks noGrp="1"/>
          </p:cNvSpPr>
          <p:nvPr>
            <p:ph type="sldNum" sz="quarter" idx="12"/>
          </p:nvPr>
        </p:nvSpPr>
        <p:spPr/>
        <p:txBody>
          <a:bodyPr/>
          <a:lstStyle/>
          <a:p>
            <a:fld id="{134B94F9-45DD-BF42-A664-539ED0B48670}" type="slidenum">
              <a:rPr lang="en-US" smtClean="0"/>
              <a:t>‹#›</a:t>
            </a:fld>
            <a:endParaRPr lang="en-US"/>
          </a:p>
        </p:txBody>
      </p:sp>
    </p:spTree>
    <p:extLst>
      <p:ext uri="{BB962C8B-B14F-4D97-AF65-F5344CB8AC3E}">
        <p14:creationId xmlns:p14="http://schemas.microsoft.com/office/powerpoint/2010/main" val="26756411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CE722E-E464-D314-E089-F2219EEFE42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1659A9C-B980-A1DC-4920-F60FE5A27AD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D2BE839-C3E9-4C70-9BD0-FAD83DF4AA20}"/>
              </a:ext>
            </a:extLst>
          </p:cNvPr>
          <p:cNvSpPr>
            <a:spLocks noGrp="1"/>
          </p:cNvSpPr>
          <p:nvPr>
            <p:ph type="dt" sz="half" idx="10"/>
          </p:nvPr>
        </p:nvSpPr>
        <p:spPr/>
        <p:txBody>
          <a:bodyPr/>
          <a:lstStyle/>
          <a:p>
            <a:fld id="{5D24FF9D-C949-704A-8396-D2529650C987}" type="datetimeFigureOut">
              <a:rPr lang="en-US" smtClean="0"/>
              <a:t>2/9/26</a:t>
            </a:fld>
            <a:endParaRPr lang="en-US"/>
          </a:p>
        </p:txBody>
      </p:sp>
      <p:sp>
        <p:nvSpPr>
          <p:cNvPr id="5" name="Footer Placeholder 4">
            <a:extLst>
              <a:ext uri="{FF2B5EF4-FFF2-40B4-BE49-F238E27FC236}">
                <a16:creationId xmlns:a16="http://schemas.microsoft.com/office/drawing/2014/main" id="{0F7FE819-C7D4-B634-589B-067C7691A1B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2767B30-CE1D-DF1B-5B60-195D98166A2B}"/>
              </a:ext>
            </a:extLst>
          </p:cNvPr>
          <p:cNvSpPr>
            <a:spLocks noGrp="1"/>
          </p:cNvSpPr>
          <p:nvPr>
            <p:ph type="sldNum" sz="quarter" idx="12"/>
          </p:nvPr>
        </p:nvSpPr>
        <p:spPr/>
        <p:txBody>
          <a:bodyPr/>
          <a:lstStyle/>
          <a:p>
            <a:fld id="{134B94F9-45DD-BF42-A664-539ED0B48670}" type="slidenum">
              <a:rPr lang="en-US" smtClean="0"/>
              <a:t>‹#›</a:t>
            </a:fld>
            <a:endParaRPr lang="en-US"/>
          </a:p>
        </p:txBody>
      </p:sp>
    </p:spTree>
    <p:extLst>
      <p:ext uri="{BB962C8B-B14F-4D97-AF65-F5344CB8AC3E}">
        <p14:creationId xmlns:p14="http://schemas.microsoft.com/office/powerpoint/2010/main" val="3562043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531735-5A5C-E4E3-59EA-44E5DEBAAB2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2CDB11C-AAE3-FFC2-3712-AD9A2E1FAE0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FF680AB-9B26-BE62-4C50-CAEDD0298E6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630FA95-8821-1DBB-D98F-84236561994C}"/>
              </a:ext>
            </a:extLst>
          </p:cNvPr>
          <p:cNvSpPr>
            <a:spLocks noGrp="1"/>
          </p:cNvSpPr>
          <p:nvPr>
            <p:ph type="dt" sz="half" idx="10"/>
          </p:nvPr>
        </p:nvSpPr>
        <p:spPr/>
        <p:txBody>
          <a:bodyPr/>
          <a:lstStyle/>
          <a:p>
            <a:fld id="{5D24FF9D-C949-704A-8396-D2529650C987}" type="datetimeFigureOut">
              <a:rPr lang="en-US" smtClean="0"/>
              <a:t>2/9/26</a:t>
            </a:fld>
            <a:endParaRPr lang="en-US"/>
          </a:p>
        </p:txBody>
      </p:sp>
      <p:sp>
        <p:nvSpPr>
          <p:cNvPr id="6" name="Footer Placeholder 5">
            <a:extLst>
              <a:ext uri="{FF2B5EF4-FFF2-40B4-BE49-F238E27FC236}">
                <a16:creationId xmlns:a16="http://schemas.microsoft.com/office/drawing/2014/main" id="{82A3E77C-DCA6-1691-34DD-BFCB1E73959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8ECE6EA-4147-5CDF-2920-803023A332D9}"/>
              </a:ext>
            </a:extLst>
          </p:cNvPr>
          <p:cNvSpPr>
            <a:spLocks noGrp="1"/>
          </p:cNvSpPr>
          <p:nvPr>
            <p:ph type="sldNum" sz="quarter" idx="12"/>
          </p:nvPr>
        </p:nvSpPr>
        <p:spPr/>
        <p:txBody>
          <a:bodyPr/>
          <a:lstStyle/>
          <a:p>
            <a:fld id="{134B94F9-45DD-BF42-A664-539ED0B48670}" type="slidenum">
              <a:rPr lang="en-US" smtClean="0"/>
              <a:t>‹#›</a:t>
            </a:fld>
            <a:endParaRPr lang="en-US"/>
          </a:p>
        </p:txBody>
      </p:sp>
    </p:spTree>
    <p:extLst>
      <p:ext uri="{BB962C8B-B14F-4D97-AF65-F5344CB8AC3E}">
        <p14:creationId xmlns:p14="http://schemas.microsoft.com/office/powerpoint/2010/main" val="35746590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A6251B-36B5-09B6-BEAB-B991BF2BCA34}"/>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DDB3881-85F5-1DD9-4B6C-909D86EF101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9BCB0A2-8811-800C-3CD0-15E48C3EDBA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E56C903-05CA-988D-D62E-EEC5F24C2B3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20DC93C-E349-3DD3-57E6-8E9289B50DF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DF5C941-F3B5-40DF-28FC-F25F8AFDDABC}"/>
              </a:ext>
            </a:extLst>
          </p:cNvPr>
          <p:cNvSpPr>
            <a:spLocks noGrp="1"/>
          </p:cNvSpPr>
          <p:nvPr>
            <p:ph type="dt" sz="half" idx="10"/>
          </p:nvPr>
        </p:nvSpPr>
        <p:spPr/>
        <p:txBody>
          <a:bodyPr/>
          <a:lstStyle/>
          <a:p>
            <a:fld id="{5D24FF9D-C949-704A-8396-D2529650C987}" type="datetimeFigureOut">
              <a:rPr lang="en-US" smtClean="0"/>
              <a:t>2/9/26</a:t>
            </a:fld>
            <a:endParaRPr lang="en-US"/>
          </a:p>
        </p:txBody>
      </p:sp>
      <p:sp>
        <p:nvSpPr>
          <p:cNvPr id="8" name="Footer Placeholder 7">
            <a:extLst>
              <a:ext uri="{FF2B5EF4-FFF2-40B4-BE49-F238E27FC236}">
                <a16:creationId xmlns:a16="http://schemas.microsoft.com/office/drawing/2014/main" id="{7437A7C0-A23A-5866-06D1-E09FD907930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AC8109E3-4B5E-F2C8-C95C-C3C0493D9537}"/>
              </a:ext>
            </a:extLst>
          </p:cNvPr>
          <p:cNvSpPr>
            <a:spLocks noGrp="1"/>
          </p:cNvSpPr>
          <p:nvPr>
            <p:ph type="sldNum" sz="quarter" idx="12"/>
          </p:nvPr>
        </p:nvSpPr>
        <p:spPr/>
        <p:txBody>
          <a:bodyPr/>
          <a:lstStyle/>
          <a:p>
            <a:fld id="{134B94F9-45DD-BF42-A664-539ED0B48670}" type="slidenum">
              <a:rPr lang="en-US" smtClean="0"/>
              <a:t>‹#›</a:t>
            </a:fld>
            <a:endParaRPr lang="en-US"/>
          </a:p>
        </p:txBody>
      </p:sp>
    </p:spTree>
    <p:extLst>
      <p:ext uri="{BB962C8B-B14F-4D97-AF65-F5344CB8AC3E}">
        <p14:creationId xmlns:p14="http://schemas.microsoft.com/office/powerpoint/2010/main" val="4005388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AC5119-0DFD-D619-691F-4C0D015B1E6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92DDB4A-D555-79B7-4237-376BD464C89C}"/>
              </a:ext>
            </a:extLst>
          </p:cNvPr>
          <p:cNvSpPr>
            <a:spLocks noGrp="1"/>
          </p:cNvSpPr>
          <p:nvPr>
            <p:ph type="dt" sz="half" idx="10"/>
          </p:nvPr>
        </p:nvSpPr>
        <p:spPr/>
        <p:txBody>
          <a:bodyPr/>
          <a:lstStyle/>
          <a:p>
            <a:fld id="{5D24FF9D-C949-704A-8396-D2529650C987}" type="datetimeFigureOut">
              <a:rPr lang="en-US" smtClean="0"/>
              <a:t>2/9/26</a:t>
            </a:fld>
            <a:endParaRPr lang="en-US"/>
          </a:p>
        </p:txBody>
      </p:sp>
      <p:sp>
        <p:nvSpPr>
          <p:cNvPr id="4" name="Footer Placeholder 3">
            <a:extLst>
              <a:ext uri="{FF2B5EF4-FFF2-40B4-BE49-F238E27FC236}">
                <a16:creationId xmlns:a16="http://schemas.microsoft.com/office/drawing/2014/main" id="{6BBAA355-C010-E474-0170-FAF90F04C91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06FA7DD-154A-9DF2-D6D2-CD60C5D348B2}"/>
              </a:ext>
            </a:extLst>
          </p:cNvPr>
          <p:cNvSpPr>
            <a:spLocks noGrp="1"/>
          </p:cNvSpPr>
          <p:nvPr>
            <p:ph type="sldNum" sz="quarter" idx="12"/>
          </p:nvPr>
        </p:nvSpPr>
        <p:spPr/>
        <p:txBody>
          <a:bodyPr/>
          <a:lstStyle/>
          <a:p>
            <a:fld id="{134B94F9-45DD-BF42-A664-539ED0B48670}" type="slidenum">
              <a:rPr lang="en-US" smtClean="0"/>
              <a:t>‹#›</a:t>
            </a:fld>
            <a:endParaRPr lang="en-US"/>
          </a:p>
        </p:txBody>
      </p:sp>
    </p:spTree>
    <p:extLst>
      <p:ext uri="{BB962C8B-B14F-4D97-AF65-F5344CB8AC3E}">
        <p14:creationId xmlns:p14="http://schemas.microsoft.com/office/powerpoint/2010/main" val="13278098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E63906D-6B02-1740-5F75-AA647CE67110}"/>
              </a:ext>
            </a:extLst>
          </p:cNvPr>
          <p:cNvSpPr>
            <a:spLocks noGrp="1"/>
          </p:cNvSpPr>
          <p:nvPr>
            <p:ph type="dt" sz="half" idx="10"/>
          </p:nvPr>
        </p:nvSpPr>
        <p:spPr/>
        <p:txBody>
          <a:bodyPr/>
          <a:lstStyle/>
          <a:p>
            <a:fld id="{5D24FF9D-C949-704A-8396-D2529650C987}" type="datetimeFigureOut">
              <a:rPr lang="en-US" smtClean="0"/>
              <a:t>2/9/26</a:t>
            </a:fld>
            <a:endParaRPr lang="en-US"/>
          </a:p>
        </p:txBody>
      </p:sp>
      <p:sp>
        <p:nvSpPr>
          <p:cNvPr id="3" name="Footer Placeholder 2">
            <a:extLst>
              <a:ext uri="{FF2B5EF4-FFF2-40B4-BE49-F238E27FC236}">
                <a16:creationId xmlns:a16="http://schemas.microsoft.com/office/drawing/2014/main" id="{5075F640-4250-F3C3-03BC-F0817F86657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3280A3D-DC19-B4CE-D927-7452BBA7AD4C}"/>
              </a:ext>
            </a:extLst>
          </p:cNvPr>
          <p:cNvSpPr>
            <a:spLocks noGrp="1"/>
          </p:cNvSpPr>
          <p:nvPr>
            <p:ph type="sldNum" sz="quarter" idx="12"/>
          </p:nvPr>
        </p:nvSpPr>
        <p:spPr/>
        <p:txBody>
          <a:bodyPr/>
          <a:lstStyle/>
          <a:p>
            <a:fld id="{134B94F9-45DD-BF42-A664-539ED0B48670}" type="slidenum">
              <a:rPr lang="en-US" smtClean="0"/>
              <a:t>‹#›</a:t>
            </a:fld>
            <a:endParaRPr lang="en-US"/>
          </a:p>
        </p:txBody>
      </p:sp>
    </p:spTree>
    <p:extLst>
      <p:ext uri="{BB962C8B-B14F-4D97-AF65-F5344CB8AC3E}">
        <p14:creationId xmlns:p14="http://schemas.microsoft.com/office/powerpoint/2010/main" val="206319359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A31EEE-FDDE-F832-44CF-0B39B929043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DB62ACD-F41B-F47C-750A-88251F82272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CD97102-4A68-A0FD-0605-8B3EC5BC9C9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95865A2-D203-D3D6-0690-AF2572FB3A97}"/>
              </a:ext>
            </a:extLst>
          </p:cNvPr>
          <p:cNvSpPr>
            <a:spLocks noGrp="1"/>
          </p:cNvSpPr>
          <p:nvPr>
            <p:ph type="dt" sz="half" idx="10"/>
          </p:nvPr>
        </p:nvSpPr>
        <p:spPr/>
        <p:txBody>
          <a:bodyPr/>
          <a:lstStyle/>
          <a:p>
            <a:fld id="{5D24FF9D-C949-704A-8396-D2529650C987}" type="datetimeFigureOut">
              <a:rPr lang="en-US" smtClean="0"/>
              <a:t>2/9/26</a:t>
            </a:fld>
            <a:endParaRPr lang="en-US"/>
          </a:p>
        </p:txBody>
      </p:sp>
      <p:sp>
        <p:nvSpPr>
          <p:cNvPr id="6" name="Footer Placeholder 5">
            <a:extLst>
              <a:ext uri="{FF2B5EF4-FFF2-40B4-BE49-F238E27FC236}">
                <a16:creationId xmlns:a16="http://schemas.microsoft.com/office/drawing/2014/main" id="{F726EE19-A6CA-A5EB-EA5C-5BDFD8E8FDE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5E13239-B450-C628-BC68-5312B7B60648}"/>
              </a:ext>
            </a:extLst>
          </p:cNvPr>
          <p:cNvSpPr>
            <a:spLocks noGrp="1"/>
          </p:cNvSpPr>
          <p:nvPr>
            <p:ph type="sldNum" sz="quarter" idx="12"/>
          </p:nvPr>
        </p:nvSpPr>
        <p:spPr/>
        <p:txBody>
          <a:bodyPr/>
          <a:lstStyle/>
          <a:p>
            <a:fld id="{134B94F9-45DD-BF42-A664-539ED0B48670}" type="slidenum">
              <a:rPr lang="en-US" smtClean="0"/>
              <a:t>‹#›</a:t>
            </a:fld>
            <a:endParaRPr lang="en-US"/>
          </a:p>
        </p:txBody>
      </p:sp>
    </p:spTree>
    <p:extLst>
      <p:ext uri="{BB962C8B-B14F-4D97-AF65-F5344CB8AC3E}">
        <p14:creationId xmlns:p14="http://schemas.microsoft.com/office/powerpoint/2010/main" val="136162322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FCD8D6-5699-22A2-5383-A0E4CB86B79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54A7C31-44ED-9CC5-3B6F-BF647FE8068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8A5BE847-0E65-967F-836C-3AA7354AFE8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9713580-A297-8B84-0CA1-E857301A0561}"/>
              </a:ext>
            </a:extLst>
          </p:cNvPr>
          <p:cNvSpPr>
            <a:spLocks noGrp="1"/>
          </p:cNvSpPr>
          <p:nvPr>
            <p:ph type="dt" sz="half" idx="10"/>
          </p:nvPr>
        </p:nvSpPr>
        <p:spPr/>
        <p:txBody>
          <a:bodyPr/>
          <a:lstStyle/>
          <a:p>
            <a:fld id="{5D24FF9D-C949-704A-8396-D2529650C987}" type="datetimeFigureOut">
              <a:rPr lang="en-US" smtClean="0"/>
              <a:t>2/9/26</a:t>
            </a:fld>
            <a:endParaRPr lang="en-US"/>
          </a:p>
        </p:txBody>
      </p:sp>
      <p:sp>
        <p:nvSpPr>
          <p:cNvPr id="6" name="Footer Placeholder 5">
            <a:extLst>
              <a:ext uri="{FF2B5EF4-FFF2-40B4-BE49-F238E27FC236}">
                <a16:creationId xmlns:a16="http://schemas.microsoft.com/office/drawing/2014/main" id="{69FE9364-9360-91B0-DB47-47BA2030FFC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F66C52E-D199-1A1A-B39E-EB338D8C544B}"/>
              </a:ext>
            </a:extLst>
          </p:cNvPr>
          <p:cNvSpPr>
            <a:spLocks noGrp="1"/>
          </p:cNvSpPr>
          <p:nvPr>
            <p:ph type="sldNum" sz="quarter" idx="12"/>
          </p:nvPr>
        </p:nvSpPr>
        <p:spPr/>
        <p:txBody>
          <a:bodyPr/>
          <a:lstStyle/>
          <a:p>
            <a:fld id="{134B94F9-45DD-BF42-A664-539ED0B48670}" type="slidenum">
              <a:rPr lang="en-US" smtClean="0"/>
              <a:t>‹#›</a:t>
            </a:fld>
            <a:endParaRPr lang="en-US"/>
          </a:p>
        </p:txBody>
      </p:sp>
    </p:spTree>
    <p:extLst>
      <p:ext uri="{BB962C8B-B14F-4D97-AF65-F5344CB8AC3E}">
        <p14:creationId xmlns:p14="http://schemas.microsoft.com/office/powerpoint/2010/main" val="25644607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BF0B95-39EC-0DD0-43FE-CE44F9E5E7C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229F747-8C4F-B862-6DC7-FF7B02C69F9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19BAFA3-43F1-7261-2178-7DDBCE5F8A3B}"/>
              </a:ext>
            </a:extLst>
          </p:cNvPr>
          <p:cNvSpPr>
            <a:spLocks noGrp="1"/>
          </p:cNvSpPr>
          <p:nvPr>
            <p:ph type="dt" sz="half" idx="10"/>
          </p:nvPr>
        </p:nvSpPr>
        <p:spPr/>
        <p:txBody>
          <a:bodyPr/>
          <a:lstStyle/>
          <a:p>
            <a:fld id="{5D24FF9D-C949-704A-8396-D2529650C987}" type="datetimeFigureOut">
              <a:rPr lang="en-US" smtClean="0"/>
              <a:t>2/9/26</a:t>
            </a:fld>
            <a:endParaRPr lang="en-US"/>
          </a:p>
        </p:txBody>
      </p:sp>
      <p:sp>
        <p:nvSpPr>
          <p:cNvPr id="5" name="Footer Placeholder 4">
            <a:extLst>
              <a:ext uri="{FF2B5EF4-FFF2-40B4-BE49-F238E27FC236}">
                <a16:creationId xmlns:a16="http://schemas.microsoft.com/office/drawing/2014/main" id="{29EA4549-9FD1-84B6-1D25-56F5E312BA5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7783D74-0129-1F05-40EA-AFA0EACFC811}"/>
              </a:ext>
            </a:extLst>
          </p:cNvPr>
          <p:cNvSpPr>
            <a:spLocks noGrp="1"/>
          </p:cNvSpPr>
          <p:nvPr>
            <p:ph type="sldNum" sz="quarter" idx="12"/>
          </p:nvPr>
        </p:nvSpPr>
        <p:spPr/>
        <p:txBody>
          <a:bodyPr/>
          <a:lstStyle/>
          <a:p>
            <a:fld id="{134B94F9-45DD-BF42-A664-539ED0B48670}" type="slidenum">
              <a:rPr lang="en-US" smtClean="0"/>
              <a:t>‹#›</a:t>
            </a:fld>
            <a:endParaRPr lang="en-US"/>
          </a:p>
        </p:txBody>
      </p:sp>
    </p:spTree>
    <p:extLst>
      <p:ext uri="{BB962C8B-B14F-4D97-AF65-F5344CB8AC3E}">
        <p14:creationId xmlns:p14="http://schemas.microsoft.com/office/powerpoint/2010/main" val="4745868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A01739C-A626-4C9B-E56F-CC76CF01414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3033468-A771-267D-5977-94BF779835E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573ABDF-62AD-EFB9-1FE0-1F6310231D08}"/>
              </a:ext>
            </a:extLst>
          </p:cNvPr>
          <p:cNvSpPr>
            <a:spLocks noGrp="1"/>
          </p:cNvSpPr>
          <p:nvPr>
            <p:ph type="dt" sz="half" idx="10"/>
          </p:nvPr>
        </p:nvSpPr>
        <p:spPr/>
        <p:txBody>
          <a:bodyPr/>
          <a:lstStyle/>
          <a:p>
            <a:fld id="{5D24FF9D-C949-704A-8396-D2529650C987}" type="datetimeFigureOut">
              <a:rPr lang="en-US" smtClean="0"/>
              <a:t>2/9/26</a:t>
            </a:fld>
            <a:endParaRPr lang="en-US"/>
          </a:p>
        </p:txBody>
      </p:sp>
      <p:sp>
        <p:nvSpPr>
          <p:cNvPr id="5" name="Footer Placeholder 4">
            <a:extLst>
              <a:ext uri="{FF2B5EF4-FFF2-40B4-BE49-F238E27FC236}">
                <a16:creationId xmlns:a16="http://schemas.microsoft.com/office/drawing/2014/main" id="{65FCB90A-847B-7896-4E4B-AD3682055A4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B593D71-4BED-EAFC-5DA5-24EBC03664E0}"/>
              </a:ext>
            </a:extLst>
          </p:cNvPr>
          <p:cNvSpPr>
            <a:spLocks noGrp="1"/>
          </p:cNvSpPr>
          <p:nvPr>
            <p:ph type="sldNum" sz="quarter" idx="12"/>
          </p:nvPr>
        </p:nvSpPr>
        <p:spPr/>
        <p:txBody>
          <a:bodyPr/>
          <a:lstStyle/>
          <a:p>
            <a:fld id="{134B94F9-45DD-BF42-A664-539ED0B48670}" type="slidenum">
              <a:rPr lang="en-US" smtClean="0"/>
              <a:t>‹#›</a:t>
            </a:fld>
            <a:endParaRPr lang="en-US"/>
          </a:p>
        </p:txBody>
      </p:sp>
    </p:spTree>
    <p:extLst>
      <p:ext uri="{BB962C8B-B14F-4D97-AF65-F5344CB8AC3E}">
        <p14:creationId xmlns:p14="http://schemas.microsoft.com/office/powerpoint/2010/main" val="56109895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875099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3FDECE2-B80E-679C-6849-D7309EA277A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8539E3C-175E-333A-ED6D-15EDEBD5BC0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76D4D3D-681A-1720-4D9A-251BBBD03EC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D24FF9D-C949-704A-8396-D2529650C987}" type="datetimeFigureOut">
              <a:rPr lang="en-US" smtClean="0"/>
              <a:t>2/9/26</a:t>
            </a:fld>
            <a:endParaRPr lang="en-US"/>
          </a:p>
        </p:txBody>
      </p:sp>
      <p:sp>
        <p:nvSpPr>
          <p:cNvPr id="5" name="Footer Placeholder 4">
            <a:extLst>
              <a:ext uri="{FF2B5EF4-FFF2-40B4-BE49-F238E27FC236}">
                <a16:creationId xmlns:a16="http://schemas.microsoft.com/office/drawing/2014/main" id="{E5ED1CEC-D52F-5E89-C277-B21F23302C3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FBE79E8B-00C8-791A-9842-BA09BE938EA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34B94F9-45DD-BF42-A664-539ED0B48670}" type="slidenum">
              <a:rPr lang="en-US" smtClean="0"/>
              <a:t>‹#›</a:t>
            </a:fld>
            <a:endParaRPr lang="en-US"/>
          </a:p>
        </p:txBody>
      </p:sp>
    </p:spTree>
    <p:extLst>
      <p:ext uri="{BB962C8B-B14F-4D97-AF65-F5344CB8AC3E}">
        <p14:creationId xmlns:p14="http://schemas.microsoft.com/office/powerpoint/2010/main" val="239070916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81F659-1062-CEA2-86E9-8511EDABEE69}"/>
              </a:ext>
            </a:extLst>
          </p:cNvPr>
          <p:cNvSpPr>
            <a:spLocks noGrp="1"/>
          </p:cNvSpPr>
          <p:nvPr>
            <p:ph type="ctrTitle"/>
          </p:nvPr>
        </p:nvSpPr>
        <p:spPr>
          <a:xfrm>
            <a:off x="491613" y="1041400"/>
            <a:ext cx="11208774" cy="2387600"/>
          </a:xfrm>
        </p:spPr>
        <p:txBody>
          <a:bodyPr>
            <a:normAutofit fontScale="90000"/>
          </a:bodyPr>
          <a:lstStyle/>
          <a:p>
            <a:r>
              <a:rPr lang="en-US" b="1" dirty="0">
                <a:solidFill>
                  <a:srgbClr val="1A1A2E"/>
                </a:solidFill>
                <a:latin typeface="Georgia" pitchFamily="34" charset="0"/>
                <a:ea typeface="Georgia" pitchFamily="34" charset="-122"/>
                <a:cs typeface="Georgia" pitchFamily="34" charset="-120"/>
              </a:rPr>
              <a:t>Pricing Sovereign Credit Risk in Oil-Exporting Economies</a:t>
            </a:r>
            <a:endParaRPr lang="en-US" dirty="0"/>
          </a:p>
        </p:txBody>
      </p:sp>
      <p:sp>
        <p:nvSpPr>
          <p:cNvPr id="3" name="Subtitle 2">
            <a:extLst>
              <a:ext uri="{FF2B5EF4-FFF2-40B4-BE49-F238E27FC236}">
                <a16:creationId xmlns:a16="http://schemas.microsoft.com/office/drawing/2014/main" id="{D3D5E08F-A471-6AB8-EC3E-76D682F86641}"/>
              </a:ext>
            </a:extLst>
          </p:cNvPr>
          <p:cNvSpPr>
            <a:spLocks noGrp="1"/>
          </p:cNvSpPr>
          <p:nvPr>
            <p:ph type="subTitle" idx="1"/>
          </p:nvPr>
        </p:nvSpPr>
        <p:spPr>
          <a:xfrm>
            <a:off x="1524000" y="3756896"/>
            <a:ext cx="9144000" cy="1655762"/>
          </a:xfrm>
        </p:spPr>
        <p:txBody>
          <a:bodyPr>
            <a:normAutofit/>
          </a:bodyPr>
          <a:lstStyle/>
          <a:p>
            <a:r>
              <a:rPr lang="en-US" sz="3200" dirty="0"/>
              <a:t>MSc thesis exposé</a:t>
            </a:r>
          </a:p>
        </p:txBody>
      </p:sp>
    </p:spTree>
    <p:extLst>
      <p:ext uri="{BB962C8B-B14F-4D97-AF65-F5344CB8AC3E}">
        <p14:creationId xmlns:p14="http://schemas.microsoft.com/office/powerpoint/2010/main" val="5202071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09600" y="243840"/>
            <a:ext cx="10972800" cy="548640"/>
          </a:xfrm>
          <a:prstGeom prst="rect">
            <a:avLst/>
          </a:prstGeom>
          <a:noFill/>
          <a:ln/>
        </p:spPr>
        <p:txBody>
          <a:bodyPr wrap="square" lIns="0" tIns="0" rIns="0" bIns="0" rtlCol="0" anchor="ctr"/>
          <a:lstStyle/>
          <a:p>
            <a:r>
              <a:rPr lang="en-US" sz="3200" b="1" dirty="0">
                <a:solidFill>
                  <a:srgbClr val="1A1A2E"/>
                </a:solidFill>
                <a:latin typeface="Georgia" pitchFamily="34" charset="0"/>
                <a:ea typeface="Georgia" pitchFamily="34" charset="-122"/>
                <a:cs typeface="Georgia" pitchFamily="34" charset="-120"/>
              </a:rPr>
              <a:t>Motivation &amp; Literature Gap</a:t>
            </a:r>
            <a:endParaRPr lang="en-US" sz="3200" dirty="0"/>
          </a:p>
        </p:txBody>
      </p:sp>
      <p:sp>
        <p:nvSpPr>
          <p:cNvPr id="3" name="Text 1"/>
          <p:cNvSpPr/>
          <p:nvPr/>
        </p:nvSpPr>
        <p:spPr>
          <a:xfrm>
            <a:off x="609600" y="893991"/>
            <a:ext cx="10972800" cy="792480"/>
          </a:xfrm>
          <a:prstGeom prst="rect">
            <a:avLst/>
          </a:prstGeom>
          <a:noFill/>
          <a:ln/>
        </p:spPr>
        <p:txBody>
          <a:bodyPr wrap="square" lIns="0" tIns="0" rIns="0" bIns="0" rtlCol="0" anchor="ctr"/>
          <a:lstStyle/>
          <a:p>
            <a:pPr>
              <a:lnSpc>
                <a:spcPct val="130000"/>
              </a:lnSpc>
            </a:pPr>
            <a:r>
              <a:rPr lang="en-US" sz="1467" dirty="0">
                <a:solidFill>
                  <a:srgbClr val="444444"/>
                </a:solidFill>
                <a:latin typeface="Calibri" pitchFamily="34" charset="0"/>
                <a:ea typeface="Calibri" pitchFamily="34" charset="-122"/>
                <a:cs typeface="Calibri" pitchFamily="34" charset="-120"/>
              </a:rPr>
              <a:t>Commodity prices are a recognized driver of credit risk in emerging market economies. In the case of oil price risk, there is literature documenting its statistical relationship with sovereign CDS spreads, and separate work showing how oil revenues affect national balance sheets and fiscal capacity. However, this knowledge has not been brought into structural default models, which provide a stronger economic intuition as to why defaults happen.</a:t>
            </a:r>
            <a:endParaRPr lang="en-US" sz="1467" dirty="0"/>
          </a:p>
        </p:txBody>
      </p:sp>
      <p:graphicFrame>
        <p:nvGraphicFramePr>
          <p:cNvPr id="4" name="Table 0"/>
          <p:cNvGraphicFramePr>
            <a:graphicFrameLocks noGrp="1"/>
          </p:cNvGraphicFramePr>
          <p:nvPr>
            <p:extLst>
              <p:ext uri="{D42A27DB-BD31-4B8C-83A1-F6EECF244321}">
                <p14:modId xmlns:p14="http://schemas.microsoft.com/office/powerpoint/2010/main" val="2069395170"/>
              </p:ext>
            </p:extLst>
          </p:nvPr>
        </p:nvGraphicFramePr>
        <p:xfrm>
          <a:off x="609600" y="2046989"/>
          <a:ext cx="10972800" cy="3136052"/>
        </p:xfrm>
        <a:graphic>
          <a:graphicData uri="http://schemas.openxmlformats.org/drawingml/2006/table">
            <a:tbl>
              <a:tblPr/>
              <a:tblGrid>
                <a:gridCol w="1950720">
                  <a:extLst>
                    <a:ext uri="{9D8B030D-6E8A-4147-A177-3AD203B41FA5}">
                      <a16:colId xmlns:a16="http://schemas.microsoft.com/office/drawing/2014/main" val="20000"/>
                    </a:ext>
                  </a:extLst>
                </a:gridCol>
                <a:gridCol w="2682240">
                  <a:extLst>
                    <a:ext uri="{9D8B030D-6E8A-4147-A177-3AD203B41FA5}">
                      <a16:colId xmlns:a16="http://schemas.microsoft.com/office/drawing/2014/main" val="20001"/>
                    </a:ext>
                  </a:extLst>
                </a:gridCol>
                <a:gridCol w="6339840">
                  <a:extLst>
                    <a:ext uri="{9D8B030D-6E8A-4147-A177-3AD203B41FA5}">
                      <a16:colId xmlns:a16="http://schemas.microsoft.com/office/drawing/2014/main" val="20002"/>
                    </a:ext>
                  </a:extLst>
                </a:gridCol>
              </a:tblGrid>
              <a:tr h="365760">
                <a:tc>
                  <a:txBody>
                    <a:bodyPr/>
                    <a:lstStyle/>
                    <a:p>
                      <a:pPr marL="0" indent="0" algn="l">
                        <a:buNone/>
                      </a:pPr>
                      <a:r>
                        <a:rPr lang="en-US" sz="1300" b="1" dirty="0">
                          <a:solidFill>
                            <a:srgbClr val="FFFFFF"/>
                          </a:solidFill>
                          <a:latin typeface="Calibri" pitchFamily="34" charset="0"/>
                          <a:ea typeface="Calibri" pitchFamily="34" charset="-122"/>
                          <a:cs typeface="Calibri" pitchFamily="34" charset="-120"/>
                        </a:rPr>
                        <a:t>Literature Stream</a:t>
                      </a:r>
                      <a:endParaRPr lang="en-US" sz="1300" dirty="0">
                        <a:latin typeface="Calibri" charset="0"/>
                        <a:ea typeface="Calibri" charset="0"/>
                        <a:cs typeface="Calibri" charset="0"/>
                      </a:endParaRPr>
                    </a:p>
                  </a:txBody>
                  <a:tcPr marL="101600" marR="101600" marT="67733" marB="67733"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2A2A3E"/>
                    </a:solidFill>
                  </a:tcPr>
                </a:tc>
                <a:tc>
                  <a:txBody>
                    <a:bodyPr/>
                    <a:lstStyle/>
                    <a:p>
                      <a:pPr marL="0" indent="0" algn="l">
                        <a:buNone/>
                      </a:pPr>
                      <a:r>
                        <a:rPr lang="en-US" sz="1300" b="1" dirty="0">
                          <a:solidFill>
                            <a:srgbClr val="FFFFFF"/>
                          </a:solidFill>
                          <a:latin typeface="Calibri" pitchFamily="34" charset="0"/>
                          <a:ea typeface="Calibri" pitchFamily="34" charset="-122"/>
                          <a:cs typeface="Calibri" pitchFamily="34" charset="-120"/>
                        </a:rPr>
                        <a:t>Key Papers</a:t>
                      </a:r>
                      <a:endParaRPr lang="en-US" sz="1300" dirty="0">
                        <a:latin typeface="Calibri" charset="0"/>
                        <a:ea typeface="Calibri" charset="0"/>
                        <a:cs typeface="Calibri" charset="0"/>
                      </a:endParaRPr>
                    </a:p>
                  </a:txBody>
                  <a:tcPr marL="101600" marR="101600" marT="67733" marB="67733"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2A2A3E"/>
                    </a:solidFill>
                  </a:tcPr>
                </a:tc>
                <a:tc>
                  <a:txBody>
                    <a:bodyPr/>
                    <a:lstStyle/>
                    <a:p>
                      <a:pPr marL="0" indent="0" algn="l">
                        <a:buNone/>
                      </a:pPr>
                      <a:r>
                        <a:rPr lang="en-US" sz="1300" b="1" dirty="0">
                          <a:solidFill>
                            <a:srgbClr val="FFFFFF"/>
                          </a:solidFill>
                          <a:latin typeface="Calibri" pitchFamily="34" charset="0"/>
                          <a:ea typeface="Calibri" pitchFamily="34" charset="-122"/>
                          <a:cs typeface="Calibri" pitchFamily="34" charset="-120"/>
                        </a:rPr>
                        <a:t>What It Establishes</a:t>
                      </a:r>
                      <a:endParaRPr lang="en-US" sz="1300" dirty="0">
                        <a:latin typeface="Calibri" charset="0"/>
                        <a:ea typeface="Calibri" charset="0"/>
                        <a:cs typeface="Calibri" charset="0"/>
                      </a:endParaRPr>
                    </a:p>
                  </a:txBody>
                  <a:tcPr marL="101600" marR="101600" marT="67733" marB="67733"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2A2A3E"/>
                    </a:solidFill>
                  </a:tcPr>
                </a:tc>
                <a:extLst>
                  <a:ext uri="{0D108BD9-81ED-4DB2-BD59-A6C34878D82A}">
                    <a16:rowId xmlns:a16="http://schemas.microsoft.com/office/drawing/2014/main" val="10000"/>
                  </a:ext>
                </a:extLst>
              </a:tr>
              <a:tr h="914400">
                <a:tc>
                  <a:txBody>
                    <a:bodyPr/>
                    <a:lstStyle/>
                    <a:p>
                      <a:pPr marL="0" indent="0" algn="l">
                        <a:buNone/>
                      </a:pPr>
                      <a:r>
                        <a:rPr lang="en-US" sz="1300" b="1" dirty="0">
                          <a:solidFill>
                            <a:srgbClr val="2A4A7A"/>
                          </a:solidFill>
                          <a:latin typeface="Calibri" pitchFamily="34" charset="0"/>
                          <a:ea typeface="Calibri" pitchFamily="34" charset="-122"/>
                          <a:cs typeface="Calibri" pitchFamily="34" charset="-120"/>
                        </a:rPr>
                        <a:t>Structural models for sovereigns</a:t>
                      </a:r>
                      <a:endParaRPr lang="en-US" sz="1300" dirty="0">
                        <a:latin typeface="Calibri" charset="0"/>
                        <a:ea typeface="Calibri" charset="0"/>
                        <a:cs typeface="Calibri" charset="0"/>
                      </a:endParaRPr>
                    </a:p>
                  </a:txBody>
                  <a:tcPr marL="101600" marR="101600" marT="67733" marB="67733"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4F6FA"/>
                    </a:solidFill>
                  </a:tcPr>
                </a:tc>
                <a:tc>
                  <a:txBody>
                    <a:bodyPr/>
                    <a:lstStyle/>
                    <a:p>
                      <a:pPr marL="0" indent="0" algn="l">
                        <a:buNone/>
                      </a:pPr>
                      <a:r>
                        <a:rPr lang="en-US" sz="1300" dirty="0">
                          <a:solidFill>
                            <a:srgbClr val="333333"/>
                          </a:solidFill>
                          <a:latin typeface="Calibri" pitchFamily="34" charset="0"/>
                          <a:ea typeface="Calibri" pitchFamily="34" charset="-122"/>
                          <a:cs typeface="Calibri" pitchFamily="34" charset="-120"/>
                        </a:rPr>
                        <a:t>Gray, Merton &amp; Bodie (2007)</a:t>
                      </a:r>
                      <a:endParaRPr lang="en-US" sz="1300" dirty="0">
                        <a:latin typeface="Calibri" charset="0"/>
                        <a:ea typeface="Calibri" charset="0"/>
                        <a:cs typeface="Calibri" charset="0"/>
                      </a:endParaRPr>
                    </a:p>
                    <a:p>
                      <a:pPr marL="0" indent="0" algn="l">
                        <a:buNone/>
                      </a:pPr>
                      <a:r>
                        <a:rPr lang="en-US" sz="1300" dirty="0">
                          <a:solidFill>
                            <a:srgbClr val="333333"/>
                          </a:solidFill>
                          <a:latin typeface="Calibri" pitchFamily="34" charset="0"/>
                          <a:ea typeface="Calibri" pitchFamily="34" charset="-122"/>
                          <a:cs typeface="Calibri" pitchFamily="34" charset="-120"/>
                        </a:rPr>
                        <a:t>Gapen et al. (2005, 2008)</a:t>
                      </a:r>
                      <a:endParaRPr lang="en-US" sz="1300" dirty="0">
                        <a:latin typeface="Calibri" charset="0"/>
                        <a:ea typeface="Calibri" charset="0"/>
                        <a:cs typeface="Calibri" charset="0"/>
                      </a:endParaRPr>
                    </a:p>
                    <a:p>
                      <a:pPr marL="0" indent="0" algn="l">
                        <a:buNone/>
                      </a:pPr>
                      <a:r>
                        <a:rPr lang="en-US" sz="1300" dirty="0">
                          <a:solidFill>
                            <a:srgbClr val="333333"/>
                          </a:solidFill>
                          <a:latin typeface="Calibri" pitchFamily="34" charset="0"/>
                          <a:ea typeface="Calibri" pitchFamily="34" charset="-122"/>
                          <a:cs typeface="Calibri" pitchFamily="34" charset="-120"/>
                        </a:rPr>
                        <a:t>Duyvesteyn &amp; Martens (2015)</a:t>
                      </a:r>
                      <a:endParaRPr lang="en-US" sz="1300" dirty="0">
                        <a:latin typeface="Calibri" charset="0"/>
                        <a:ea typeface="Calibri" charset="0"/>
                        <a:cs typeface="Calibri" charset="0"/>
                      </a:endParaRPr>
                    </a:p>
                  </a:txBody>
                  <a:tcPr marL="101600" marR="101600" marT="67733" marB="67733">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4F6FA"/>
                    </a:solidFill>
                  </a:tcPr>
                </a:tc>
                <a:tc>
                  <a:txBody>
                    <a:bodyPr/>
                    <a:lstStyle/>
                    <a:p>
                      <a:pPr marL="0" indent="0" algn="l">
                        <a:buNone/>
                      </a:pPr>
                      <a:r>
                        <a:rPr lang="en-US" sz="1300" dirty="0">
                          <a:solidFill>
                            <a:srgbClr val="333333"/>
                          </a:solidFill>
                          <a:latin typeface="Calibri" pitchFamily="34" charset="0"/>
                          <a:ea typeface="Calibri" pitchFamily="34" charset="-122"/>
                          <a:cs typeface="Calibri" pitchFamily="34" charset="-120"/>
                        </a:rPr>
                        <a:t>Structural framework treating sovereign balance sheet as options. Equity (local currency claims) as junior claim, USD denominated debt as the senior claim. Default is endogenous, and the observed market CDS should correlate with the model Distance-to-distress (the number of standard deviations the sovereign asset value is away from the debt barrier)</a:t>
                      </a:r>
                      <a:endParaRPr lang="en-US" sz="1300" dirty="0">
                        <a:latin typeface="Calibri" charset="0"/>
                        <a:ea typeface="Calibri" charset="0"/>
                        <a:cs typeface="Calibri" charset="0"/>
                      </a:endParaRPr>
                    </a:p>
                  </a:txBody>
                  <a:tcPr marL="101600" marR="101600" marT="67733" marB="67733">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4F6FA"/>
                    </a:solidFill>
                  </a:tcPr>
                </a:tc>
                <a:extLst>
                  <a:ext uri="{0D108BD9-81ED-4DB2-BD59-A6C34878D82A}">
                    <a16:rowId xmlns:a16="http://schemas.microsoft.com/office/drawing/2014/main" val="10001"/>
                  </a:ext>
                </a:extLst>
              </a:tr>
              <a:tr h="914400">
                <a:tc>
                  <a:txBody>
                    <a:bodyPr/>
                    <a:lstStyle/>
                    <a:p>
                      <a:pPr marL="0" indent="0" algn="l">
                        <a:buNone/>
                      </a:pPr>
                      <a:r>
                        <a:rPr lang="en-US" sz="1300" b="1" dirty="0">
                          <a:solidFill>
                            <a:srgbClr val="8A5A10"/>
                          </a:solidFill>
                          <a:latin typeface="Calibri" pitchFamily="34" charset="0"/>
                          <a:ea typeface="Calibri" pitchFamily="34" charset="-122"/>
                          <a:cs typeface="Calibri" pitchFamily="34" charset="-120"/>
                        </a:rPr>
                        <a:t>Oil–Sovereign</a:t>
                      </a:r>
                      <a:endParaRPr lang="en-US" sz="1300" dirty="0">
                        <a:latin typeface="Calibri" charset="0"/>
                        <a:ea typeface="Calibri" charset="0"/>
                        <a:cs typeface="Calibri" charset="0"/>
                      </a:endParaRPr>
                    </a:p>
                    <a:p>
                      <a:pPr marL="0" indent="0" algn="l">
                        <a:buNone/>
                      </a:pPr>
                      <a:r>
                        <a:rPr lang="en-US" sz="1300" b="1" dirty="0">
                          <a:solidFill>
                            <a:srgbClr val="8A5A10"/>
                          </a:solidFill>
                          <a:latin typeface="Calibri" pitchFamily="34" charset="0"/>
                          <a:ea typeface="Calibri" pitchFamily="34" charset="-122"/>
                          <a:cs typeface="Calibri" pitchFamily="34" charset="-120"/>
                        </a:rPr>
                        <a:t>Transmission</a:t>
                      </a:r>
                      <a:endParaRPr lang="en-US" sz="1300" dirty="0">
                        <a:latin typeface="Calibri" charset="0"/>
                        <a:ea typeface="Calibri" charset="0"/>
                        <a:cs typeface="Calibri" charset="0"/>
                      </a:endParaRPr>
                    </a:p>
                  </a:txBody>
                  <a:tcPr marL="101600" marR="101600" marT="67733" marB="67733"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8F0"/>
                    </a:solidFill>
                  </a:tcPr>
                </a:tc>
                <a:tc>
                  <a:txBody>
                    <a:bodyPr/>
                    <a:lstStyle/>
                    <a:p>
                      <a:pPr marL="0" indent="0" algn="l">
                        <a:buNone/>
                      </a:pPr>
                      <a:r>
                        <a:rPr lang="en-US" sz="1300" dirty="0">
                          <a:solidFill>
                            <a:srgbClr val="333333"/>
                          </a:solidFill>
                          <a:latin typeface="Calibri" pitchFamily="34" charset="0"/>
                          <a:ea typeface="Calibri" pitchFamily="34" charset="-122"/>
                          <a:cs typeface="Calibri" pitchFamily="34" charset="-120"/>
                        </a:rPr>
                        <a:t>Bouri et al. (2018, 2019)</a:t>
                      </a:r>
                      <a:endParaRPr lang="en-US" sz="1300" dirty="0">
                        <a:latin typeface="Calibri" charset="0"/>
                        <a:ea typeface="Calibri" charset="0"/>
                        <a:cs typeface="Calibri" charset="0"/>
                      </a:endParaRPr>
                    </a:p>
                    <a:p>
                      <a:pPr marL="0" indent="0" algn="l">
                        <a:buNone/>
                      </a:pPr>
                      <a:r>
                        <a:rPr lang="en-US" sz="1300" dirty="0">
                          <a:solidFill>
                            <a:srgbClr val="333333"/>
                          </a:solidFill>
                          <a:latin typeface="Calibri" pitchFamily="34" charset="0"/>
                          <a:ea typeface="Calibri" pitchFamily="34" charset="-122"/>
                          <a:cs typeface="Calibri" pitchFamily="34" charset="-120"/>
                        </a:rPr>
                        <a:t>Wegener et al. (2025)</a:t>
                      </a:r>
                      <a:endParaRPr lang="en-US" sz="1300" dirty="0">
                        <a:latin typeface="Calibri" charset="0"/>
                        <a:ea typeface="Calibri" charset="0"/>
                        <a:cs typeface="Calibri" charset="0"/>
                      </a:endParaRPr>
                    </a:p>
                    <a:p>
                      <a:pPr marL="0" indent="0" algn="l">
                        <a:buNone/>
                      </a:pPr>
                      <a:r>
                        <a:rPr lang="en-US" sz="1300" dirty="0">
                          <a:solidFill>
                            <a:srgbClr val="333333"/>
                          </a:solidFill>
                          <a:latin typeface="Calibri" pitchFamily="34" charset="0"/>
                          <a:ea typeface="Calibri" pitchFamily="34" charset="-122"/>
                          <a:cs typeface="Calibri" pitchFamily="34" charset="-120"/>
                        </a:rPr>
                        <a:t>Naifar et al. (2020)</a:t>
                      </a:r>
                      <a:endParaRPr lang="en-US" sz="1300" dirty="0">
                        <a:latin typeface="Calibri" charset="0"/>
                        <a:ea typeface="Calibri" charset="0"/>
                        <a:cs typeface="Calibri" charset="0"/>
                      </a:endParaRPr>
                    </a:p>
                    <a:p>
                      <a:pPr marL="0" indent="0" algn="l">
                        <a:buNone/>
                      </a:pPr>
                      <a:r>
                        <a:rPr lang="en-US" sz="1300" dirty="0">
                          <a:solidFill>
                            <a:srgbClr val="333333"/>
                          </a:solidFill>
                          <a:latin typeface="Calibri" pitchFamily="34" charset="0"/>
                          <a:ea typeface="Calibri" pitchFamily="34" charset="-122"/>
                          <a:cs typeface="Calibri" pitchFamily="34" charset="-120"/>
                        </a:rPr>
                        <a:t>Sabkha et al. (2019)</a:t>
                      </a:r>
                      <a:endParaRPr lang="en-US" sz="1300" dirty="0">
                        <a:latin typeface="Calibri" charset="0"/>
                        <a:ea typeface="Calibri" charset="0"/>
                        <a:cs typeface="Calibri" charset="0"/>
                      </a:endParaRPr>
                    </a:p>
                  </a:txBody>
                  <a:tcPr marL="101600" marR="101600" marT="67733" marB="67733">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8F0"/>
                    </a:solidFill>
                  </a:tcPr>
                </a:tc>
                <a:tc>
                  <a:txBody>
                    <a:bodyPr/>
                    <a:lstStyle/>
                    <a:p>
                      <a:pPr marL="0" indent="0" algn="l">
                        <a:buNone/>
                      </a:pPr>
                      <a:r>
                        <a:rPr lang="en-US" sz="1300" dirty="0">
                          <a:solidFill>
                            <a:srgbClr val="333333"/>
                          </a:solidFill>
                          <a:latin typeface="Calibri" pitchFamily="34" charset="0"/>
                          <a:ea typeface="Calibri" pitchFamily="34" charset="-122"/>
                          <a:cs typeface="Calibri" pitchFamily="34" charset="-120"/>
                        </a:rPr>
                        <a:t>Oil prices affect sovereign CDS spreads. The relationship is nonlinear, asymmetric, and regime-dependent (stronger during stress), different effect on exporters. However the models used here are reduced-form, which lack the economic intuition of structural models.</a:t>
                      </a:r>
                      <a:endParaRPr lang="en-US" sz="1300" dirty="0">
                        <a:latin typeface="Calibri" charset="0"/>
                        <a:ea typeface="Calibri" charset="0"/>
                        <a:cs typeface="Calibri" charset="0"/>
                      </a:endParaRPr>
                    </a:p>
                  </a:txBody>
                  <a:tcPr marL="101600" marR="101600" marT="67733" marB="67733">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FF8F0"/>
                    </a:solidFill>
                  </a:tcPr>
                </a:tc>
                <a:extLst>
                  <a:ext uri="{0D108BD9-81ED-4DB2-BD59-A6C34878D82A}">
                    <a16:rowId xmlns:a16="http://schemas.microsoft.com/office/drawing/2014/main" val="10002"/>
                  </a:ext>
                </a:extLst>
              </a:tr>
              <a:tr h="914400">
                <a:tc>
                  <a:txBody>
                    <a:bodyPr/>
                    <a:lstStyle/>
                    <a:p>
                      <a:pPr marL="0" indent="0" algn="l">
                        <a:buNone/>
                      </a:pPr>
                      <a:r>
                        <a:rPr lang="en-US" sz="1300" b="1" dirty="0">
                          <a:solidFill>
                            <a:srgbClr val="2A6A3A"/>
                          </a:solidFill>
                          <a:latin typeface="Calibri" pitchFamily="34" charset="0"/>
                          <a:ea typeface="Calibri" pitchFamily="34" charset="-122"/>
                          <a:cs typeface="Calibri" pitchFamily="34" charset="-120"/>
                        </a:rPr>
                        <a:t>Jump-Diffusion</a:t>
                      </a:r>
                      <a:endParaRPr lang="en-US" sz="1300" dirty="0">
                        <a:latin typeface="Calibri" charset="0"/>
                        <a:ea typeface="Calibri" charset="0"/>
                        <a:cs typeface="Calibri" charset="0"/>
                      </a:endParaRPr>
                    </a:p>
                    <a:p>
                      <a:pPr marL="0" indent="0" algn="l">
                        <a:buNone/>
                      </a:pPr>
                      <a:r>
                        <a:rPr lang="en-US" sz="1300" b="1" dirty="0">
                          <a:solidFill>
                            <a:srgbClr val="2A6A3A"/>
                          </a:solidFill>
                          <a:latin typeface="Calibri" pitchFamily="34" charset="0"/>
                          <a:ea typeface="Calibri" pitchFamily="34" charset="-122"/>
                          <a:cs typeface="Calibri" pitchFamily="34" charset="-120"/>
                        </a:rPr>
                        <a:t>Credit Models</a:t>
                      </a:r>
                      <a:endParaRPr lang="en-US" sz="1300" dirty="0">
                        <a:latin typeface="Calibri" charset="0"/>
                        <a:ea typeface="Calibri" charset="0"/>
                        <a:cs typeface="Calibri" charset="0"/>
                      </a:endParaRPr>
                    </a:p>
                  </a:txBody>
                  <a:tcPr marL="101600" marR="101600" marT="67733" marB="67733" anchor="ctr">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0F7F2"/>
                    </a:solidFill>
                  </a:tcPr>
                </a:tc>
                <a:tc>
                  <a:txBody>
                    <a:bodyPr/>
                    <a:lstStyle/>
                    <a:p>
                      <a:pPr marL="0" indent="0" algn="l">
                        <a:buNone/>
                      </a:pPr>
                      <a:r>
                        <a:rPr lang="en-US" sz="1300" dirty="0">
                          <a:solidFill>
                            <a:srgbClr val="333333"/>
                          </a:solidFill>
                          <a:latin typeface="Calibri" pitchFamily="34" charset="0"/>
                          <a:ea typeface="Calibri" pitchFamily="34" charset="-122"/>
                          <a:cs typeface="Calibri" pitchFamily="34" charset="-120"/>
                        </a:rPr>
                        <a:t>Zhou (1997, 2001)</a:t>
                      </a:r>
                      <a:endParaRPr lang="en-US" sz="1300" dirty="0">
                        <a:latin typeface="Calibri" charset="0"/>
                        <a:ea typeface="Calibri" charset="0"/>
                        <a:cs typeface="Calibri" charset="0"/>
                      </a:endParaRPr>
                    </a:p>
                    <a:p>
                      <a:pPr marL="0" indent="0" algn="l">
                        <a:buNone/>
                      </a:pPr>
                      <a:r>
                        <a:rPr lang="en-US" sz="1300" dirty="0">
                          <a:solidFill>
                            <a:srgbClr val="333333"/>
                          </a:solidFill>
                          <a:latin typeface="Calibri" pitchFamily="34" charset="0"/>
                          <a:ea typeface="Calibri" pitchFamily="34" charset="-122"/>
                          <a:cs typeface="Calibri" pitchFamily="34" charset="-120"/>
                        </a:rPr>
                        <a:t>Wong &amp; Li (2006)</a:t>
                      </a:r>
                      <a:endParaRPr lang="en-US" sz="1300" dirty="0">
                        <a:latin typeface="Calibri" charset="0"/>
                        <a:ea typeface="Calibri" charset="0"/>
                        <a:cs typeface="Calibri" charset="0"/>
                      </a:endParaRPr>
                    </a:p>
                    <a:p>
                      <a:pPr marL="0" indent="0" algn="l">
                        <a:buNone/>
                      </a:pPr>
                      <a:r>
                        <a:rPr lang="en-US" sz="1300" dirty="0">
                          <a:solidFill>
                            <a:srgbClr val="333333"/>
                          </a:solidFill>
                          <a:latin typeface="Calibri" pitchFamily="34" charset="0"/>
                          <a:ea typeface="Calibri" pitchFamily="34" charset="-122"/>
                          <a:cs typeface="Calibri" pitchFamily="34" charset="-120"/>
                        </a:rPr>
                        <a:t>Da Fonseca et al. (2016)</a:t>
                      </a:r>
                      <a:endParaRPr lang="en-US" sz="1300" dirty="0">
                        <a:latin typeface="Calibri" charset="0"/>
                        <a:ea typeface="Calibri" charset="0"/>
                        <a:cs typeface="Calibri" charset="0"/>
                      </a:endParaRPr>
                    </a:p>
                  </a:txBody>
                  <a:tcPr marL="101600" marR="101600" marT="67733" marB="67733">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0F7F2"/>
                    </a:solidFill>
                  </a:tcPr>
                </a:tc>
                <a:tc>
                  <a:txBody>
                    <a:bodyPr/>
                    <a:lstStyle/>
                    <a:p>
                      <a:pPr marL="0" indent="0" algn="l">
                        <a:buNone/>
                      </a:pPr>
                      <a:r>
                        <a:rPr lang="en-US" sz="1300" dirty="0">
                          <a:solidFill>
                            <a:srgbClr val="333333"/>
                          </a:solidFill>
                          <a:latin typeface="Calibri" pitchFamily="34" charset="0"/>
                          <a:ea typeface="Calibri" pitchFamily="34" charset="-122"/>
                          <a:cs typeface="Calibri" pitchFamily="34" charset="-120"/>
                        </a:rPr>
                        <a:t>Jumps capture sudden movements in asset value that smooth diffusion misses, and help better explain spreads, but have been applied to corporate debt only.</a:t>
                      </a:r>
                      <a:endParaRPr lang="en-US" sz="1300" dirty="0">
                        <a:latin typeface="Calibri" charset="0"/>
                        <a:ea typeface="Calibri" charset="0"/>
                        <a:cs typeface="Calibri" charset="0"/>
                      </a:endParaRPr>
                    </a:p>
                  </a:txBody>
                  <a:tcPr marL="101600" marR="101600" marT="67733" marB="67733">
                    <a:lnL w="6350" cap="flat" cmpd="sng" algn="ctr">
                      <a:solidFill>
                        <a:srgbClr val="CCCCCC"/>
                      </a:solidFill>
                      <a:prstDash val="solid"/>
                      <a:round/>
                      <a:headEnd type="none" w="med" len="med"/>
                      <a:tailEnd type="none" w="med" len="med"/>
                    </a:lnL>
                    <a:lnR w="6350" cap="flat" cmpd="sng" algn="ctr">
                      <a:solidFill>
                        <a:srgbClr val="CCCCCC"/>
                      </a:solidFill>
                      <a:prstDash val="solid"/>
                      <a:round/>
                      <a:headEnd type="none" w="med" len="med"/>
                      <a:tailEnd type="none" w="med" len="med"/>
                    </a:lnR>
                    <a:lnT w="6350" cap="flat" cmpd="sng" algn="ctr">
                      <a:solidFill>
                        <a:srgbClr val="CCCCCC"/>
                      </a:solidFill>
                      <a:prstDash val="solid"/>
                      <a:round/>
                      <a:headEnd type="none" w="med" len="med"/>
                      <a:tailEnd type="none" w="med" len="med"/>
                    </a:lnT>
                    <a:lnB w="6350" cap="flat" cmpd="sng" algn="ctr">
                      <a:solidFill>
                        <a:srgbClr val="CCCCCC"/>
                      </a:solidFill>
                      <a:prstDash val="solid"/>
                      <a:round/>
                      <a:headEnd type="none" w="med" len="med"/>
                      <a:tailEnd type="none" w="med" len="med"/>
                    </a:lnB>
                    <a:solidFill>
                      <a:srgbClr val="F0F7F2"/>
                    </a:solidFill>
                  </a:tcPr>
                </a:tc>
                <a:extLst>
                  <a:ext uri="{0D108BD9-81ED-4DB2-BD59-A6C34878D82A}">
                    <a16:rowId xmlns:a16="http://schemas.microsoft.com/office/drawing/2014/main" val="10003"/>
                  </a:ext>
                </a:extLst>
              </a:tr>
            </a:tbl>
          </a:graphicData>
        </a:graphic>
      </p:graphicFrame>
      <p:sp>
        <p:nvSpPr>
          <p:cNvPr id="5" name="Shape 2"/>
          <p:cNvSpPr/>
          <p:nvPr/>
        </p:nvSpPr>
        <p:spPr>
          <a:xfrm>
            <a:off x="609600" y="5216909"/>
            <a:ext cx="10972800" cy="73152"/>
          </a:xfrm>
          <a:prstGeom prst="rect">
            <a:avLst/>
          </a:prstGeom>
          <a:solidFill>
            <a:srgbClr val="1A1A2E"/>
          </a:solidFill>
          <a:ln/>
        </p:spPr>
        <p:txBody>
          <a:bodyPr/>
          <a:lstStyle/>
          <a:p>
            <a:endParaRPr lang="en-US" sz="2400"/>
          </a:p>
        </p:txBody>
      </p:sp>
      <p:sp>
        <p:nvSpPr>
          <p:cNvPr id="6" name="Text 3"/>
          <p:cNvSpPr/>
          <p:nvPr/>
        </p:nvSpPr>
        <p:spPr>
          <a:xfrm>
            <a:off x="609600" y="5391572"/>
            <a:ext cx="10972800" cy="365760"/>
          </a:xfrm>
          <a:prstGeom prst="rect">
            <a:avLst/>
          </a:prstGeom>
          <a:noFill/>
          <a:ln/>
        </p:spPr>
        <p:txBody>
          <a:bodyPr wrap="square" lIns="0" tIns="0" rIns="0" bIns="0" rtlCol="0" anchor="ctr"/>
          <a:lstStyle/>
          <a:p>
            <a:r>
              <a:rPr lang="en-US" sz="1733" b="1" dirty="0">
                <a:solidFill>
                  <a:srgbClr val="1A1A2E"/>
                </a:solidFill>
                <a:latin typeface="Georgia" pitchFamily="34" charset="0"/>
                <a:ea typeface="Georgia" pitchFamily="34" charset="-122"/>
                <a:cs typeface="Georgia" pitchFamily="34" charset="-120"/>
              </a:rPr>
              <a:t>Research gap</a:t>
            </a:r>
            <a:endParaRPr lang="en-US" sz="1733" dirty="0"/>
          </a:p>
        </p:txBody>
      </p:sp>
      <p:sp>
        <p:nvSpPr>
          <p:cNvPr id="7" name="Text 4"/>
          <p:cNvSpPr/>
          <p:nvPr/>
        </p:nvSpPr>
        <p:spPr>
          <a:xfrm>
            <a:off x="609600" y="5681472"/>
            <a:ext cx="10972800" cy="1036320"/>
          </a:xfrm>
          <a:prstGeom prst="rect">
            <a:avLst/>
          </a:prstGeom>
          <a:noFill/>
          <a:ln/>
        </p:spPr>
        <p:txBody>
          <a:bodyPr wrap="square" lIns="0" tIns="0" rIns="0" bIns="0" rtlCol="0" anchor="t"/>
          <a:lstStyle/>
          <a:p>
            <a:pPr>
              <a:lnSpc>
                <a:spcPct val="125000"/>
              </a:lnSpc>
            </a:pPr>
            <a:r>
              <a:rPr lang="en-US" sz="1400" b="1" dirty="0">
                <a:solidFill>
                  <a:srgbClr val="333333"/>
                </a:solidFill>
                <a:latin typeface="Calibri" pitchFamily="34" charset="0"/>
                <a:ea typeface="Calibri" pitchFamily="34" charset="-122"/>
                <a:cs typeface="Calibri" pitchFamily="34" charset="-120"/>
              </a:rPr>
              <a:t>There is no research as to how the oil price dynamics could extend structural models. </a:t>
            </a:r>
            <a:r>
              <a:rPr lang="en-US" sz="1400" dirty="0">
                <a:solidFill>
                  <a:srgbClr val="333333"/>
                </a:solidFill>
                <a:latin typeface="Calibri" pitchFamily="34" charset="0"/>
                <a:ea typeface="Calibri" pitchFamily="34" charset="-122"/>
                <a:cs typeface="Calibri" pitchFamily="34" charset="-120"/>
              </a:rPr>
              <a:t>This gap matters because it leaves us without an economic mechanism connecting commodity prices to sovereign credit risk. This thesis would provide a structural specification for the transmission channels of oil price risk into sovereign debt.</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87680" y="243840"/>
            <a:ext cx="11216640" cy="609600"/>
          </a:xfrm>
          <a:prstGeom prst="rect">
            <a:avLst/>
          </a:prstGeom>
          <a:noFill/>
          <a:ln/>
        </p:spPr>
        <p:txBody>
          <a:bodyPr wrap="square" lIns="0" tIns="0" rIns="0" bIns="0" rtlCol="0" anchor="ctr"/>
          <a:lstStyle/>
          <a:p>
            <a:r>
              <a:rPr lang="en-US" sz="2933" b="1" dirty="0">
                <a:solidFill>
                  <a:srgbClr val="1A1A2E"/>
                </a:solidFill>
                <a:latin typeface="Georgia" pitchFamily="34" charset="0"/>
                <a:ea typeface="Georgia" pitchFamily="34" charset="-122"/>
                <a:cs typeface="Georgia" pitchFamily="34" charset="-120"/>
              </a:rPr>
              <a:t>Empirical Evidence Framework</a:t>
            </a:r>
            <a:endParaRPr lang="en-US" sz="2933" dirty="0"/>
          </a:p>
        </p:txBody>
      </p:sp>
      <p:sp>
        <p:nvSpPr>
          <p:cNvPr id="3" name="Text 1"/>
          <p:cNvSpPr/>
          <p:nvPr/>
        </p:nvSpPr>
        <p:spPr>
          <a:xfrm>
            <a:off x="487680" y="792480"/>
            <a:ext cx="11216640" cy="365760"/>
          </a:xfrm>
          <a:prstGeom prst="rect">
            <a:avLst/>
          </a:prstGeom>
          <a:noFill/>
          <a:ln/>
        </p:spPr>
        <p:txBody>
          <a:bodyPr wrap="square" lIns="0" tIns="0" rIns="0" bIns="0" rtlCol="0" anchor="ctr"/>
          <a:lstStyle/>
          <a:p>
            <a:endParaRPr lang="en-US" sz="1467" dirty="0"/>
          </a:p>
        </p:txBody>
      </p:sp>
      <p:sp>
        <p:nvSpPr>
          <p:cNvPr id="4" name="Shape 2"/>
          <p:cNvSpPr/>
          <p:nvPr/>
        </p:nvSpPr>
        <p:spPr>
          <a:xfrm>
            <a:off x="487680" y="1341120"/>
            <a:ext cx="3535680" cy="1524000"/>
          </a:xfrm>
          <a:prstGeom prst="rect">
            <a:avLst/>
          </a:prstGeom>
          <a:solidFill>
            <a:srgbClr val="DCEAF7"/>
          </a:solidFill>
          <a:ln w="19050">
            <a:solidFill>
              <a:srgbClr val="3A6FA0"/>
            </a:solidFill>
            <a:prstDash val="solid"/>
          </a:ln>
        </p:spPr>
        <p:txBody>
          <a:bodyPr/>
          <a:lstStyle/>
          <a:p>
            <a:endParaRPr lang="en-US" sz="2400"/>
          </a:p>
        </p:txBody>
      </p:sp>
      <p:sp>
        <p:nvSpPr>
          <p:cNvPr id="5" name="Shape 3"/>
          <p:cNvSpPr/>
          <p:nvPr/>
        </p:nvSpPr>
        <p:spPr>
          <a:xfrm>
            <a:off x="487680" y="1341120"/>
            <a:ext cx="73152" cy="1524000"/>
          </a:xfrm>
          <a:prstGeom prst="rect">
            <a:avLst/>
          </a:prstGeom>
          <a:solidFill>
            <a:srgbClr val="3A6FA0"/>
          </a:solidFill>
          <a:ln/>
        </p:spPr>
        <p:txBody>
          <a:bodyPr/>
          <a:lstStyle/>
          <a:p>
            <a:endParaRPr lang="en-US" sz="2400"/>
          </a:p>
        </p:txBody>
      </p:sp>
      <p:sp>
        <p:nvSpPr>
          <p:cNvPr id="6" name="Text 4"/>
          <p:cNvSpPr/>
          <p:nvPr/>
        </p:nvSpPr>
        <p:spPr>
          <a:xfrm>
            <a:off x="707136" y="1463040"/>
            <a:ext cx="3169920" cy="426720"/>
          </a:xfrm>
          <a:prstGeom prst="rect">
            <a:avLst/>
          </a:prstGeom>
          <a:noFill/>
          <a:ln/>
        </p:spPr>
        <p:txBody>
          <a:bodyPr wrap="square" lIns="0" tIns="0" rIns="0" bIns="0" rtlCol="0" anchor="t"/>
          <a:lstStyle/>
          <a:p>
            <a:r>
              <a:rPr lang="en-US" sz="1600" b="1" dirty="0">
                <a:solidFill>
                  <a:srgbClr val="3A6FA0"/>
                </a:solidFill>
                <a:latin typeface="Calibri" pitchFamily="34" charset="0"/>
                <a:ea typeface="Calibri" pitchFamily="34" charset="-122"/>
                <a:cs typeface="Calibri" pitchFamily="34" charset="-120"/>
              </a:rPr>
              <a:t>I. </a:t>
            </a:r>
            <a:r>
              <a:rPr lang="en-US" sz="1600" b="1" dirty="0">
                <a:solidFill>
                  <a:srgbClr val="1A3A5C"/>
                </a:solidFill>
                <a:latin typeface="Calibri" pitchFamily="34" charset="0"/>
                <a:ea typeface="Calibri" pitchFamily="34" charset="-122"/>
                <a:cs typeface="Calibri" pitchFamily="34" charset="-120"/>
              </a:rPr>
              <a:t>Oil price risk transmits differently</a:t>
            </a:r>
            <a:endParaRPr lang="en-US" sz="1600" dirty="0"/>
          </a:p>
        </p:txBody>
      </p:sp>
      <p:sp>
        <p:nvSpPr>
          <p:cNvPr id="7" name="Text 5"/>
          <p:cNvSpPr/>
          <p:nvPr/>
        </p:nvSpPr>
        <p:spPr>
          <a:xfrm>
            <a:off x="707136" y="1804416"/>
            <a:ext cx="3169920" cy="365760"/>
          </a:xfrm>
          <a:prstGeom prst="rect">
            <a:avLst/>
          </a:prstGeom>
          <a:noFill/>
          <a:ln/>
        </p:spPr>
        <p:txBody>
          <a:bodyPr wrap="square" lIns="0" tIns="0" rIns="0" bIns="0" rtlCol="0" anchor="t"/>
          <a:lstStyle/>
          <a:p>
            <a:r>
              <a:rPr lang="en-US" sz="1600" b="1" dirty="0">
                <a:solidFill>
                  <a:srgbClr val="1A3A5C"/>
                </a:solidFill>
                <a:latin typeface="Calibri" pitchFamily="34" charset="0"/>
                <a:ea typeface="Calibri" pitchFamily="34" charset="-122"/>
                <a:cs typeface="Calibri" pitchFamily="34" charset="-120"/>
              </a:rPr>
              <a:t>to exporters than importers</a:t>
            </a:r>
            <a:endParaRPr lang="en-US" sz="1600" dirty="0"/>
          </a:p>
        </p:txBody>
      </p:sp>
      <p:sp>
        <p:nvSpPr>
          <p:cNvPr id="8" name="Text 6"/>
          <p:cNvSpPr/>
          <p:nvPr/>
        </p:nvSpPr>
        <p:spPr>
          <a:xfrm>
            <a:off x="707136" y="2401824"/>
            <a:ext cx="3169920" cy="341376"/>
          </a:xfrm>
          <a:prstGeom prst="rect">
            <a:avLst/>
          </a:prstGeom>
          <a:noFill/>
          <a:ln/>
        </p:spPr>
        <p:txBody>
          <a:bodyPr wrap="square" lIns="0" tIns="0" rIns="0" bIns="0" rtlCol="0" anchor="b"/>
          <a:lstStyle/>
          <a:p>
            <a:r>
              <a:rPr lang="en-US" sz="1200" i="1" dirty="0">
                <a:solidFill>
                  <a:srgbClr val="888888"/>
                </a:solidFill>
                <a:latin typeface="Calibri" pitchFamily="34" charset="0"/>
                <a:ea typeface="Calibri" pitchFamily="34" charset="-122"/>
                <a:cs typeface="Calibri" pitchFamily="34" charset="-120"/>
              </a:rPr>
              <a:t>Main motivation</a:t>
            </a:r>
            <a:endParaRPr lang="en-US" sz="1200" dirty="0"/>
          </a:p>
        </p:txBody>
      </p:sp>
      <p:sp>
        <p:nvSpPr>
          <p:cNvPr id="9" name="Shape 7"/>
          <p:cNvSpPr/>
          <p:nvPr/>
        </p:nvSpPr>
        <p:spPr>
          <a:xfrm>
            <a:off x="4407877" y="1391178"/>
            <a:ext cx="7315200" cy="426720"/>
          </a:xfrm>
          <a:prstGeom prst="roundRect">
            <a:avLst>
              <a:gd name="adj" fmla="val 14286"/>
            </a:avLst>
          </a:prstGeom>
          <a:solidFill>
            <a:srgbClr val="F5F5F5"/>
          </a:solidFill>
          <a:ln/>
        </p:spPr>
        <p:txBody>
          <a:bodyPr/>
          <a:lstStyle/>
          <a:p>
            <a:endParaRPr lang="en-US" sz="2400"/>
          </a:p>
        </p:txBody>
      </p:sp>
      <p:grpSp>
        <p:nvGrpSpPr>
          <p:cNvPr id="51" name="Group 50">
            <a:extLst>
              <a:ext uri="{FF2B5EF4-FFF2-40B4-BE49-F238E27FC236}">
                <a16:creationId xmlns:a16="http://schemas.microsoft.com/office/drawing/2014/main" id="{CAA93321-34A9-170C-B131-7174DCCB298D}"/>
              </a:ext>
            </a:extLst>
          </p:cNvPr>
          <p:cNvGrpSpPr/>
          <p:nvPr/>
        </p:nvGrpSpPr>
        <p:grpSpPr>
          <a:xfrm>
            <a:off x="4547616" y="1191006"/>
            <a:ext cx="7095744" cy="426720"/>
            <a:chOff x="4547616" y="1389888"/>
            <a:chExt cx="7095744" cy="426720"/>
          </a:xfrm>
        </p:grpSpPr>
        <p:sp>
          <p:nvSpPr>
            <p:cNvPr id="10" name="Shape 8"/>
            <p:cNvSpPr/>
            <p:nvPr/>
          </p:nvSpPr>
          <p:spPr>
            <a:xfrm>
              <a:off x="4547616" y="1450848"/>
              <a:ext cx="304800" cy="304800"/>
            </a:xfrm>
            <a:prstGeom prst="ellipse">
              <a:avLst/>
            </a:prstGeom>
            <a:solidFill>
              <a:srgbClr val="3A6FA0"/>
            </a:solidFill>
            <a:ln/>
          </p:spPr>
          <p:txBody>
            <a:bodyPr/>
            <a:lstStyle/>
            <a:p>
              <a:endParaRPr lang="en-US" sz="2400"/>
            </a:p>
          </p:txBody>
        </p:sp>
        <p:sp>
          <p:nvSpPr>
            <p:cNvPr id="11" name="Text 9"/>
            <p:cNvSpPr/>
            <p:nvPr/>
          </p:nvSpPr>
          <p:spPr>
            <a:xfrm>
              <a:off x="4547616" y="1450848"/>
              <a:ext cx="304800" cy="304800"/>
            </a:xfrm>
            <a:prstGeom prst="rect">
              <a:avLst/>
            </a:prstGeom>
            <a:noFill/>
            <a:ln/>
          </p:spPr>
          <p:txBody>
            <a:bodyPr wrap="square" lIns="0" tIns="0" rIns="0" bIns="0" rtlCol="0" anchor="ctr"/>
            <a:lstStyle/>
            <a:p>
              <a:pPr algn="ctr"/>
              <a:r>
                <a:rPr lang="en-US" sz="1333" b="1" dirty="0">
                  <a:solidFill>
                    <a:srgbClr val="FFFFFF"/>
                  </a:solidFill>
                  <a:latin typeface="Calibri" pitchFamily="34" charset="0"/>
                  <a:ea typeface="Calibri" pitchFamily="34" charset="-122"/>
                  <a:cs typeface="Calibri" pitchFamily="34" charset="-120"/>
                </a:rPr>
                <a:t>a</a:t>
              </a:r>
              <a:endParaRPr lang="en-US" sz="1333" dirty="0"/>
            </a:p>
          </p:txBody>
        </p:sp>
        <p:sp>
          <p:nvSpPr>
            <p:cNvPr id="12" name="Text 10"/>
            <p:cNvSpPr/>
            <p:nvPr/>
          </p:nvSpPr>
          <p:spPr>
            <a:xfrm>
              <a:off x="4962144" y="1389888"/>
              <a:ext cx="6681216" cy="426720"/>
            </a:xfrm>
            <a:prstGeom prst="rect">
              <a:avLst/>
            </a:prstGeom>
            <a:noFill/>
            <a:ln/>
          </p:spPr>
          <p:txBody>
            <a:bodyPr wrap="square" lIns="0" tIns="0" rIns="0" bIns="0" rtlCol="0" anchor="ctr"/>
            <a:lstStyle/>
            <a:p>
              <a:r>
                <a:rPr lang="en-US" sz="1267" dirty="0">
                  <a:solidFill>
                    <a:srgbClr val="2A2A2A"/>
                  </a:solidFill>
                  <a:latin typeface="Calibri" pitchFamily="34" charset="0"/>
                  <a:ea typeface="Calibri" pitchFamily="34" charset="-122"/>
                  <a:cs typeface="Calibri" pitchFamily="34" charset="-120"/>
                </a:rPr>
                <a:t>Correlation between oil returns and bond/equity returns in each country</a:t>
              </a:r>
              <a:endParaRPr lang="en-US" sz="1267" dirty="0"/>
            </a:p>
          </p:txBody>
        </p:sp>
      </p:grpSp>
      <p:sp>
        <p:nvSpPr>
          <p:cNvPr id="13" name="Shape 11"/>
          <p:cNvSpPr/>
          <p:nvPr/>
        </p:nvSpPr>
        <p:spPr>
          <a:xfrm>
            <a:off x="4450080" y="1889760"/>
            <a:ext cx="7315200" cy="426720"/>
          </a:xfrm>
          <a:prstGeom prst="roundRect">
            <a:avLst>
              <a:gd name="adj" fmla="val 14286"/>
            </a:avLst>
          </a:prstGeom>
          <a:solidFill>
            <a:srgbClr val="F5F5F5"/>
          </a:solidFill>
          <a:ln/>
        </p:spPr>
        <p:txBody>
          <a:bodyPr/>
          <a:lstStyle/>
          <a:p>
            <a:endParaRPr lang="en-US" sz="2400"/>
          </a:p>
        </p:txBody>
      </p:sp>
      <p:grpSp>
        <p:nvGrpSpPr>
          <p:cNvPr id="52" name="Group 51">
            <a:extLst>
              <a:ext uri="{FF2B5EF4-FFF2-40B4-BE49-F238E27FC236}">
                <a16:creationId xmlns:a16="http://schemas.microsoft.com/office/drawing/2014/main" id="{C421C54C-25B9-DAD9-F902-DBD28B0E5194}"/>
              </a:ext>
            </a:extLst>
          </p:cNvPr>
          <p:cNvGrpSpPr/>
          <p:nvPr/>
        </p:nvGrpSpPr>
        <p:grpSpPr>
          <a:xfrm>
            <a:off x="4546971" y="1811802"/>
            <a:ext cx="7095744" cy="426720"/>
            <a:chOff x="4547616" y="1889760"/>
            <a:chExt cx="7095744" cy="426720"/>
          </a:xfrm>
        </p:grpSpPr>
        <p:sp>
          <p:nvSpPr>
            <p:cNvPr id="14" name="Shape 12"/>
            <p:cNvSpPr/>
            <p:nvPr/>
          </p:nvSpPr>
          <p:spPr>
            <a:xfrm>
              <a:off x="4547616" y="1950720"/>
              <a:ext cx="304800" cy="304800"/>
            </a:xfrm>
            <a:prstGeom prst="ellipse">
              <a:avLst/>
            </a:prstGeom>
            <a:solidFill>
              <a:srgbClr val="3A6FA0"/>
            </a:solidFill>
            <a:ln/>
          </p:spPr>
          <p:txBody>
            <a:bodyPr/>
            <a:lstStyle/>
            <a:p>
              <a:endParaRPr lang="en-US" sz="2400"/>
            </a:p>
          </p:txBody>
        </p:sp>
        <p:sp>
          <p:nvSpPr>
            <p:cNvPr id="15" name="Text 13"/>
            <p:cNvSpPr/>
            <p:nvPr/>
          </p:nvSpPr>
          <p:spPr>
            <a:xfrm>
              <a:off x="4547616" y="1950720"/>
              <a:ext cx="304800" cy="304800"/>
            </a:xfrm>
            <a:prstGeom prst="rect">
              <a:avLst/>
            </a:prstGeom>
            <a:noFill/>
            <a:ln/>
          </p:spPr>
          <p:txBody>
            <a:bodyPr wrap="square" lIns="0" tIns="0" rIns="0" bIns="0" rtlCol="0" anchor="ctr"/>
            <a:lstStyle/>
            <a:p>
              <a:pPr algn="ctr"/>
              <a:r>
                <a:rPr lang="en-US" sz="1333" b="1" dirty="0">
                  <a:solidFill>
                    <a:srgbClr val="FFFFFF"/>
                  </a:solidFill>
                  <a:latin typeface="Calibri" pitchFamily="34" charset="0"/>
                  <a:ea typeface="Calibri" pitchFamily="34" charset="-122"/>
                  <a:cs typeface="Calibri" pitchFamily="34" charset="-120"/>
                </a:rPr>
                <a:t>b</a:t>
              </a:r>
              <a:endParaRPr lang="en-US" sz="1333" dirty="0"/>
            </a:p>
          </p:txBody>
        </p:sp>
        <p:sp>
          <p:nvSpPr>
            <p:cNvPr id="16" name="Text 14"/>
            <p:cNvSpPr/>
            <p:nvPr/>
          </p:nvSpPr>
          <p:spPr>
            <a:xfrm>
              <a:off x="4962144" y="1889760"/>
              <a:ext cx="6681216" cy="426720"/>
            </a:xfrm>
            <a:prstGeom prst="rect">
              <a:avLst/>
            </a:prstGeom>
            <a:noFill/>
            <a:ln/>
          </p:spPr>
          <p:txBody>
            <a:bodyPr wrap="square" lIns="0" tIns="0" rIns="0" bIns="0" rtlCol="0" anchor="ctr"/>
            <a:lstStyle/>
            <a:p>
              <a:r>
                <a:rPr lang="en-US" sz="1267" dirty="0">
                  <a:solidFill>
                    <a:srgbClr val="2A2A2A"/>
                  </a:solidFill>
                  <a:latin typeface="Calibri" pitchFamily="34" charset="0"/>
                  <a:ea typeface="Calibri" pitchFamily="34" charset="-122"/>
                  <a:cs typeface="Calibri" pitchFamily="34" charset="-120"/>
                </a:rPr>
                <a:t>Oil doesn't affect exporter CDS spreads all the time, only when there is high implied volatility in oil. We run a panel regression of CDS changes on oil returns × exporter dummy. The interaction coefficient goes from insignificant to highly significant as we move up in volatility regime.</a:t>
              </a:r>
              <a:endParaRPr lang="en-US" sz="1267" dirty="0"/>
            </a:p>
          </p:txBody>
        </p:sp>
      </p:grpSp>
      <p:sp>
        <p:nvSpPr>
          <p:cNvPr id="17" name="Shape 15"/>
          <p:cNvSpPr/>
          <p:nvPr/>
        </p:nvSpPr>
        <p:spPr>
          <a:xfrm>
            <a:off x="4511042" y="2399421"/>
            <a:ext cx="7315200" cy="426720"/>
          </a:xfrm>
          <a:prstGeom prst="roundRect">
            <a:avLst>
              <a:gd name="adj" fmla="val 14286"/>
            </a:avLst>
          </a:prstGeom>
          <a:solidFill>
            <a:srgbClr val="F5F5F5"/>
          </a:solidFill>
          <a:ln/>
        </p:spPr>
        <p:txBody>
          <a:bodyPr/>
          <a:lstStyle/>
          <a:p>
            <a:endParaRPr lang="en-US" sz="2400"/>
          </a:p>
        </p:txBody>
      </p:sp>
      <p:grpSp>
        <p:nvGrpSpPr>
          <p:cNvPr id="56" name="Group 55">
            <a:extLst>
              <a:ext uri="{FF2B5EF4-FFF2-40B4-BE49-F238E27FC236}">
                <a16:creationId xmlns:a16="http://schemas.microsoft.com/office/drawing/2014/main" id="{ABF705BE-6B9F-6739-5439-5167B2A11157}"/>
              </a:ext>
            </a:extLst>
          </p:cNvPr>
          <p:cNvGrpSpPr/>
          <p:nvPr/>
        </p:nvGrpSpPr>
        <p:grpSpPr>
          <a:xfrm>
            <a:off x="4546971" y="2453640"/>
            <a:ext cx="7101840" cy="426720"/>
            <a:chOff x="4547616" y="2426208"/>
            <a:chExt cx="7101840" cy="426720"/>
          </a:xfrm>
        </p:grpSpPr>
        <p:sp>
          <p:nvSpPr>
            <p:cNvPr id="18" name="Shape 16"/>
            <p:cNvSpPr/>
            <p:nvPr/>
          </p:nvSpPr>
          <p:spPr>
            <a:xfrm>
              <a:off x="4547616" y="2450592"/>
              <a:ext cx="304800" cy="304800"/>
            </a:xfrm>
            <a:prstGeom prst="ellipse">
              <a:avLst/>
            </a:prstGeom>
            <a:solidFill>
              <a:srgbClr val="3A6FA0"/>
            </a:solidFill>
            <a:ln/>
          </p:spPr>
          <p:txBody>
            <a:bodyPr/>
            <a:lstStyle/>
            <a:p>
              <a:endParaRPr lang="en-US" sz="2400"/>
            </a:p>
          </p:txBody>
        </p:sp>
        <p:sp>
          <p:nvSpPr>
            <p:cNvPr id="19" name="Text 17"/>
            <p:cNvSpPr/>
            <p:nvPr/>
          </p:nvSpPr>
          <p:spPr>
            <a:xfrm>
              <a:off x="4547616" y="2450592"/>
              <a:ext cx="304800" cy="304800"/>
            </a:xfrm>
            <a:prstGeom prst="rect">
              <a:avLst/>
            </a:prstGeom>
            <a:noFill/>
            <a:ln/>
          </p:spPr>
          <p:txBody>
            <a:bodyPr wrap="square" lIns="0" tIns="0" rIns="0" bIns="0" rtlCol="0" anchor="ctr"/>
            <a:lstStyle/>
            <a:p>
              <a:pPr algn="ctr"/>
              <a:r>
                <a:rPr lang="en-US" sz="1333" b="1" dirty="0">
                  <a:solidFill>
                    <a:srgbClr val="FFFFFF"/>
                  </a:solidFill>
                  <a:latin typeface="Calibri" pitchFamily="34" charset="0"/>
                  <a:ea typeface="Calibri" pitchFamily="34" charset="-122"/>
                  <a:cs typeface="Calibri" pitchFamily="34" charset="-120"/>
                </a:rPr>
                <a:t>c</a:t>
              </a:r>
              <a:endParaRPr lang="en-US" sz="1333" dirty="0"/>
            </a:p>
          </p:txBody>
        </p:sp>
        <p:sp>
          <p:nvSpPr>
            <p:cNvPr id="20" name="Text 18"/>
            <p:cNvSpPr/>
            <p:nvPr/>
          </p:nvSpPr>
          <p:spPr>
            <a:xfrm>
              <a:off x="4968240" y="2426208"/>
              <a:ext cx="6681216" cy="426720"/>
            </a:xfrm>
            <a:prstGeom prst="rect">
              <a:avLst/>
            </a:prstGeom>
            <a:noFill/>
            <a:ln/>
          </p:spPr>
          <p:txBody>
            <a:bodyPr wrap="square" lIns="0" tIns="0" rIns="0" bIns="0" rtlCol="0" anchor="ctr"/>
            <a:lstStyle/>
            <a:p>
              <a:r>
                <a:rPr lang="en-US" sz="1267" dirty="0">
                  <a:solidFill>
                    <a:srgbClr val="2A2A2A"/>
                  </a:solidFill>
                  <a:latin typeface="Calibri" pitchFamily="34" charset="0"/>
                  <a:ea typeface="Calibri" pitchFamily="34" charset="-122"/>
                  <a:cs typeface="Calibri" pitchFamily="34" charset="-120"/>
                </a:rPr>
                <a:t>When oil is relatively expensive, exporters show lower relative CDS spreads. This doesn’t show for non-exporters</a:t>
              </a:r>
              <a:endParaRPr lang="en-US" sz="1267" dirty="0"/>
            </a:p>
          </p:txBody>
        </p:sp>
      </p:grpSp>
      <p:sp>
        <p:nvSpPr>
          <p:cNvPr id="21" name="Shape 19"/>
          <p:cNvSpPr/>
          <p:nvPr/>
        </p:nvSpPr>
        <p:spPr>
          <a:xfrm>
            <a:off x="4084320" y="2103120"/>
            <a:ext cx="304800" cy="0"/>
          </a:xfrm>
          <a:prstGeom prst="line">
            <a:avLst/>
          </a:prstGeom>
          <a:noFill/>
          <a:ln w="15240">
            <a:solidFill>
              <a:srgbClr val="3A6FA0"/>
            </a:solidFill>
            <a:prstDash val="solid"/>
            <a:tailEnd type="triangle"/>
          </a:ln>
        </p:spPr>
        <p:txBody>
          <a:bodyPr/>
          <a:lstStyle/>
          <a:p>
            <a:endParaRPr lang="en-US" sz="2400"/>
          </a:p>
        </p:txBody>
      </p:sp>
      <p:sp>
        <p:nvSpPr>
          <p:cNvPr id="22" name="Shape 20"/>
          <p:cNvSpPr/>
          <p:nvPr/>
        </p:nvSpPr>
        <p:spPr>
          <a:xfrm>
            <a:off x="487680" y="3108960"/>
            <a:ext cx="3535680" cy="1524000"/>
          </a:xfrm>
          <a:prstGeom prst="rect">
            <a:avLst/>
          </a:prstGeom>
          <a:solidFill>
            <a:srgbClr val="FFF3E0"/>
          </a:solidFill>
          <a:ln w="19050">
            <a:solidFill>
              <a:srgbClr val="C47F17"/>
            </a:solidFill>
            <a:prstDash val="solid"/>
          </a:ln>
        </p:spPr>
        <p:txBody>
          <a:bodyPr/>
          <a:lstStyle/>
          <a:p>
            <a:endParaRPr lang="en-US" sz="2400"/>
          </a:p>
        </p:txBody>
      </p:sp>
      <p:sp>
        <p:nvSpPr>
          <p:cNvPr id="23" name="Shape 21"/>
          <p:cNvSpPr/>
          <p:nvPr/>
        </p:nvSpPr>
        <p:spPr>
          <a:xfrm>
            <a:off x="487680" y="3108960"/>
            <a:ext cx="73152" cy="1524000"/>
          </a:xfrm>
          <a:prstGeom prst="rect">
            <a:avLst/>
          </a:prstGeom>
          <a:solidFill>
            <a:srgbClr val="C47F17"/>
          </a:solidFill>
          <a:ln/>
        </p:spPr>
        <p:txBody>
          <a:bodyPr/>
          <a:lstStyle/>
          <a:p>
            <a:endParaRPr lang="en-US" sz="2400"/>
          </a:p>
        </p:txBody>
      </p:sp>
      <p:sp>
        <p:nvSpPr>
          <p:cNvPr id="24" name="Text 22"/>
          <p:cNvSpPr/>
          <p:nvPr/>
        </p:nvSpPr>
        <p:spPr>
          <a:xfrm>
            <a:off x="707136" y="3230880"/>
            <a:ext cx="3169920" cy="426720"/>
          </a:xfrm>
          <a:prstGeom prst="rect">
            <a:avLst/>
          </a:prstGeom>
          <a:noFill/>
          <a:ln/>
        </p:spPr>
        <p:txBody>
          <a:bodyPr wrap="square" lIns="0" tIns="0" rIns="0" bIns="0" rtlCol="0" anchor="t"/>
          <a:lstStyle/>
          <a:p>
            <a:r>
              <a:rPr lang="en-US" sz="1600" b="1" dirty="0">
                <a:solidFill>
                  <a:srgbClr val="C47F17"/>
                </a:solidFill>
                <a:latin typeface="Calibri" pitchFamily="34" charset="0"/>
                <a:ea typeface="Calibri" pitchFamily="34" charset="-122"/>
                <a:cs typeface="Calibri" pitchFamily="34" charset="-120"/>
              </a:rPr>
              <a:t>II. </a:t>
            </a:r>
            <a:r>
              <a:rPr lang="en-US" sz="1600" b="1" dirty="0">
                <a:solidFill>
                  <a:srgbClr val="5C3A0A"/>
                </a:solidFill>
                <a:latin typeface="Calibri" pitchFamily="34" charset="0"/>
                <a:ea typeface="Calibri" pitchFamily="34" charset="-122"/>
                <a:cs typeface="Calibri" pitchFamily="34" charset="-120"/>
              </a:rPr>
              <a:t>Exchange rates of exporters</a:t>
            </a:r>
            <a:endParaRPr lang="en-US" sz="1600" dirty="0"/>
          </a:p>
        </p:txBody>
      </p:sp>
      <p:sp>
        <p:nvSpPr>
          <p:cNvPr id="25" name="Text 23"/>
          <p:cNvSpPr/>
          <p:nvPr/>
        </p:nvSpPr>
        <p:spPr>
          <a:xfrm>
            <a:off x="707136" y="3572256"/>
            <a:ext cx="3169920" cy="365760"/>
          </a:xfrm>
          <a:prstGeom prst="rect">
            <a:avLst/>
          </a:prstGeom>
          <a:noFill/>
          <a:ln/>
        </p:spPr>
        <p:txBody>
          <a:bodyPr wrap="square" lIns="0" tIns="0" rIns="0" bIns="0" rtlCol="0" anchor="t"/>
          <a:lstStyle/>
          <a:p>
            <a:r>
              <a:rPr lang="en-US" sz="1600" b="1" dirty="0">
                <a:solidFill>
                  <a:srgbClr val="5C3A0A"/>
                </a:solidFill>
                <a:latin typeface="Calibri" pitchFamily="34" charset="0"/>
                <a:ea typeface="Calibri" pitchFamily="34" charset="-122"/>
                <a:cs typeface="Calibri" pitchFamily="34" charset="-120"/>
              </a:rPr>
              <a:t>are suppressed</a:t>
            </a:r>
            <a:endParaRPr lang="en-US" sz="1600" dirty="0"/>
          </a:p>
        </p:txBody>
      </p:sp>
      <p:sp>
        <p:nvSpPr>
          <p:cNvPr id="26" name="Text 24"/>
          <p:cNvSpPr/>
          <p:nvPr/>
        </p:nvSpPr>
        <p:spPr>
          <a:xfrm>
            <a:off x="707136" y="4169664"/>
            <a:ext cx="3169920" cy="341376"/>
          </a:xfrm>
          <a:prstGeom prst="rect">
            <a:avLst/>
          </a:prstGeom>
          <a:noFill/>
          <a:ln/>
        </p:spPr>
        <p:txBody>
          <a:bodyPr wrap="square" lIns="0" tIns="0" rIns="0" bIns="0" rtlCol="0" anchor="b"/>
          <a:lstStyle/>
          <a:p>
            <a:r>
              <a:rPr lang="en-US" sz="1200" i="1" dirty="0">
                <a:solidFill>
                  <a:srgbClr val="888888"/>
                </a:solidFill>
                <a:latin typeface="Calibri" pitchFamily="34" charset="0"/>
                <a:ea typeface="Calibri" pitchFamily="34" charset="-122"/>
                <a:cs typeface="Calibri" pitchFamily="34" charset="-120"/>
              </a:rPr>
              <a:t>Motivates model extension 1 (FX adjustment)</a:t>
            </a:r>
            <a:endParaRPr lang="en-US" sz="1200" dirty="0"/>
          </a:p>
        </p:txBody>
      </p:sp>
      <p:sp>
        <p:nvSpPr>
          <p:cNvPr id="27" name="Shape 25"/>
          <p:cNvSpPr/>
          <p:nvPr/>
        </p:nvSpPr>
        <p:spPr>
          <a:xfrm>
            <a:off x="4450080" y="3407664"/>
            <a:ext cx="7315200" cy="426720"/>
          </a:xfrm>
          <a:prstGeom prst="roundRect">
            <a:avLst>
              <a:gd name="adj" fmla="val 14286"/>
            </a:avLst>
          </a:prstGeom>
          <a:solidFill>
            <a:srgbClr val="F5F5F5"/>
          </a:solidFill>
          <a:ln/>
        </p:spPr>
        <p:txBody>
          <a:bodyPr/>
          <a:lstStyle/>
          <a:p>
            <a:endParaRPr lang="en-US" sz="2400" dirty="0"/>
          </a:p>
        </p:txBody>
      </p:sp>
      <p:grpSp>
        <p:nvGrpSpPr>
          <p:cNvPr id="57" name="Group 56">
            <a:extLst>
              <a:ext uri="{FF2B5EF4-FFF2-40B4-BE49-F238E27FC236}">
                <a16:creationId xmlns:a16="http://schemas.microsoft.com/office/drawing/2014/main" id="{FE7E090B-4E67-4458-0347-4CB9490269F5}"/>
              </a:ext>
            </a:extLst>
          </p:cNvPr>
          <p:cNvGrpSpPr/>
          <p:nvPr/>
        </p:nvGrpSpPr>
        <p:grpSpPr>
          <a:xfrm>
            <a:off x="4547616" y="3407664"/>
            <a:ext cx="7095744" cy="426720"/>
            <a:chOff x="4547616" y="3407664"/>
            <a:chExt cx="7095744" cy="426720"/>
          </a:xfrm>
        </p:grpSpPr>
        <p:sp>
          <p:nvSpPr>
            <p:cNvPr id="28" name="Shape 26"/>
            <p:cNvSpPr/>
            <p:nvPr/>
          </p:nvSpPr>
          <p:spPr>
            <a:xfrm>
              <a:off x="4547616" y="3468624"/>
              <a:ext cx="304800" cy="304800"/>
            </a:xfrm>
            <a:prstGeom prst="ellipse">
              <a:avLst/>
            </a:prstGeom>
            <a:solidFill>
              <a:srgbClr val="C47F17"/>
            </a:solidFill>
            <a:ln/>
          </p:spPr>
          <p:txBody>
            <a:bodyPr/>
            <a:lstStyle/>
            <a:p>
              <a:endParaRPr lang="en-US" sz="2400"/>
            </a:p>
          </p:txBody>
        </p:sp>
        <p:sp>
          <p:nvSpPr>
            <p:cNvPr id="29" name="Text 27"/>
            <p:cNvSpPr/>
            <p:nvPr/>
          </p:nvSpPr>
          <p:spPr>
            <a:xfrm>
              <a:off x="4547616" y="3468624"/>
              <a:ext cx="304800" cy="304800"/>
            </a:xfrm>
            <a:prstGeom prst="rect">
              <a:avLst/>
            </a:prstGeom>
            <a:noFill/>
            <a:ln/>
          </p:spPr>
          <p:txBody>
            <a:bodyPr wrap="square" lIns="0" tIns="0" rIns="0" bIns="0" rtlCol="0" anchor="ctr"/>
            <a:lstStyle/>
            <a:p>
              <a:pPr algn="ctr"/>
              <a:r>
                <a:rPr lang="en-US" sz="1333" b="1" dirty="0">
                  <a:solidFill>
                    <a:srgbClr val="FFFFFF"/>
                  </a:solidFill>
                  <a:latin typeface="Calibri" pitchFamily="34" charset="0"/>
                  <a:ea typeface="Calibri" pitchFamily="34" charset="-122"/>
                  <a:cs typeface="Calibri" pitchFamily="34" charset="-120"/>
                </a:rPr>
                <a:t>d</a:t>
              </a:r>
              <a:endParaRPr lang="en-US" sz="1333" dirty="0"/>
            </a:p>
          </p:txBody>
        </p:sp>
        <p:sp>
          <p:nvSpPr>
            <p:cNvPr id="30" name="Text 28"/>
            <p:cNvSpPr/>
            <p:nvPr/>
          </p:nvSpPr>
          <p:spPr>
            <a:xfrm>
              <a:off x="4962144" y="3407664"/>
              <a:ext cx="6681216" cy="426720"/>
            </a:xfrm>
            <a:prstGeom prst="rect">
              <a:avLst/>
            </a:prstGeom>
            <a:noFill/>
            <a:ln/>
          </p:spPr>
          <p:txBody>
            <a:bodyPr wrap="square" lIns="0" tIns="0" rIns="0" bIns="0" rtlCol="0" anchor="ctr"/>
            <a:lstStyle/>
            <a:p>
              <a:r>
                <a:rPr lang="en-US" sz="1267" dirty="0">
                  <a:solidFill>
                    <a:srgbClr val="2A2A2A"/>
                  </a:solidFill>
                  <a:latin typeface="Calibri" pitchFamily="34" charset="0"/>
                  <a:cs typeface="Calibri" pitchFamily="34" charset="-120"/>
                </a:rPr>
                <a:t>Equity/Bond markets co-move with oil returns in exporters, but FX rates doesn’t.</a:t>
              </a:r>
              <a:endParaRPr lang="en-US" sz="1267" dirty="0"/>
            </a:p>
          </p:txBody>
        </p:sp>
      </p:grpSp>
      <p:sp>
        <p:nvSpPr>
          <p:cNvPr id="31" name="Shape 29"/>
          <p:cNvSpPr/>
          <p:nvPr/>
        </p:nvSpPr>
        <p:spPr>
          <a:xfrm>
            <a:off x="4450080" y="3907536"/>
            <a:ext cx="7315200" cy="426720"/>
          </a:xfrm>
          <a:prstGeom prst="roundRect">
            <a:avLst>
              <a:gd name="adj" fmla="val 14286"/>
            </a:avLst>
          </a:prstGeom>
          <a:solidFill>
            <a:srgbClr val="F5F5F5"/>
          </a:solidFill>
          <a:ln/>
        </p:spPr>
        <p:txBody>
          <a:bodyPr/>
          <a:lstStyle/>
          <a:p>
            <a:endParaRPr lang="en-US" sz="2400"/>
          </a:p>
        </p:txBody>
      </p:sp>
      <p:sp>
        <p:nvSpPr>
          <p:cNvPr id="32" name="Shape 30"/>
          <p:cNvSpPr/>
          <p:nvPr/>
        </p:nvSpPr>
        <p:spPr>
          <a:xfrm>
            <a:off x="4547616" y="3968496"/>
            <a:ext cx="304800" cy="304800"/>
          </a:xfrm>
          <a:prstGeom prst="ellipse">
            <a:avLst/>
          </a:prstGeom>
          <a:solidFill>
            <a:srgbClr val="C47F17"/>
          </a:solidFill>
          <a:ln/>
        </p:spPr>
        <p:txBody>
          <a:bodyPr/>
          <a:lstStyle/>
          <a:p>
            <a:endParaRPr lang="en-US" sz="2400"/>
          </a:p>
        </p:txBody>
      </p:sp>
      <p:sp>
        <p:nvSpPr>
          <p:cNvPr id="33" name="Text 31"/>
          <p:cNvSpPr/>
          <p:nvPr/>
        </p:nvSpPr>
        <p:spPr>
          <a:xfrm>
            <a:off x="4547616" y="3968496"/>
            <a:ext cx="304800" cy="304800"/>
          </a:xfrm>
          <a:prstGeom prst="rect">
            <a:avLst/>
          </a:prstGeom>
          <a:noFill/>
          <a:ln/>
        </p:spPr>
        <p:txBody>
          <a:bodyPr wrap="square" lIns="0" tIns="0" rIns="0" bIns="0" rtlCol="0" anchor="ctr"/>
          <a:lstStyle/>
          <a:p>
            <a:pPr algn="ctr"/>
            <a:r>
              <a:rPr lang="en-US" sz="1333" b="1" dirty="0">
                <a:solidFill>
                  <a:srgbClr val="FFFFFF"/>
                </a:solidFill>
                <a:latin typeface="Calibri" pitchFamily="34" charset="0"/>
                <a:ea typeface="Calibri" pitchFamily="34" charset="-122"/>
                <a:cs typeface="Calibri" pitchFamily="34" charset="-120"/>
              </a:rPr>
              <a:t>e</a:t>
            </a:r>
            <a:endParaRPr lang="en-US" sz="1333" dirty="0"/>
          </a:p>
        </p:txBody>
      </p:sp>
      <p:sp>
        <p:nvSpPr>
          <p:cNvPr id="34" name="Text 32"/>
          <p:cNvSpPr/>
          <p:nvPr/>
        </p:nvSpPr>
        <p:spPr>
          <a:xfrm>
            <a:off x="4962144" y="3907536"/>
            <a:ext cx="6681216" cy="426720"/>
          </a:xfrm>
          <a:prstGeom prst="rect">
            <a:avLst/>
          </a:prstGeom>
          <a:noFill/>
          <a:ln/>
        </p:spPr>
        <p:txBody>
          <a:bodyPr wrap="square" lIns="0" tIns="0" rIns="0" bIns="0" rtlCol="0" anchor="ctr"/>
          <a:lstStyle/>
          <a:p>
            <a:r>
              <a:rPr lang="en-US" sz="1267" dirty="0">
                <a:solidFill>
                  <a:srgbClr val="2A2A2A"/>
                </a:solidFill>
                <a:latin typeface="Calibri" pitchFamily="34" charset="0"/>
                <a:ea typeface="Calibri" pitchFamily="34" charset="-122"/>
                <a:cs typeface="Calibri" pitchFamily="34" charset="-120"/>
              </a:rPr>
              <a:t>The residual from regressing FX returns on Oil returns explains future FX returns</a:t>
            </a:r>
            <a:endParaRPr lang="en-US" sz="1267" dirty="0"/>
          </a:p>
        </p:txBody>
      </p:sp>
      <p:sp>
        <p:nvSpPr>
          <p:cNvPr id="35" name="Shape 33"/>
          <p:cNvSpPr/>
          <p:nvPr/>
        </p:nvSpPr>
        <p:spPr>
          <a:xfrm>
            <a:off x="4084320" y="3870960"/>
            <a:ext cx="304800" cy="0"/>
          </a:xfrm>
          <a:prstGeom prst="line">
            <a:avLst/>
          </a:prstGeom>
          <a:noFill/>
          <a:ln w="15240">
            <a:solidFill>
              <a:srgbClr val="C47F17"/>
            </a:solidFill>
            <a:prstDash val="solid"/>
            <a:tailEnd type="triangle"/>
          </a:ln>
        </p:spPr>
        <p:txBody>
          <a:bodyPr/>
          <a:lstStyle/>
          <a:p>
            <a:endParaRPr lang="en-US" sz="2400"/>
          </a:p>
        </p:txBody>
      </p:sp>
      <p:sp>
        <p:nvSpPr>
          <p:cNvPr id="36" name="Shape 34"/>
          <p:cNvSpPr/>
          <p:nvPr/>
        </p:nvSpPr>
        <p:spPr>
          <a:xfrm>
            <a:off x="487680" y="4876800"/>
            <a:ext cx="3535680" cy="1524000"/>
          </a:xfrm>
          <a:prstGeom prst="rect">
            <a:avLst/>
          </a:prstGeom>
          <a:solidFill>
            <a:srgbClr val="E0F2E9"/>
          </a:solidFill>
          <a:ln w="19050">
            <a:solidFill>
              <a:srgbClr val="3A8A5C"/>
            </a:solidFill>
            <a:prstDash val="solid"/>
          </a:ln>
        </p:spPr>
        <p:txBody>
          <a:bodyPr/>
          <a:lstStyle/>
          <a:p>
            <a:endParaRPr lang="en-US" sz="2400"/>
          </a:p>
        </p:txBody>
      </p:sp>
      <p:sp>
        <p:nvSpPr>
          <p:cNvPr id="37" name="Shape 35"/>
          <p:cNvSpPr/>
          <p:nvPr/>
        </p:nvSpPr>
        <p:spPr>
          <a:xfrm>
            <a:off x="487680" y="4876800"/>
            <a:ext cx="73152" cy="1524000"/>
          </a:xfrm>
          <a:prstGeom prst="rect">
            <a:avLst/>
          </a:prstGeom>
          <a:solidFill>
            <a:srgbClr val="3A8A5C"/>
          </a:solidFill>
          <a:ln/>
        </p:spPr>
        <p:txBody>
          <a:bodyPr/>
          <a:lstStyle/>
          <a:p>
            <a:endParaRPr lang="en-US" sz="2400"/>
          </a:p>
        </p:txBody>
      </p:sp>
      <p:sp>
        <p:nvSpPr>
          <p:cNvPr id="38" name="Text 36"/>
          <p:cNvSpPr/>
          <p:nvPr/>
        </p:nvSpPr>
        <p:spPr>
          <a:xfrm>
            <a:off x="707136" y="4998720"/>
            <a:ext cx="3169920" cy="426720"/>
          </a:xfrm>
          <a:prstGeom prst="rect">
            <a:avLst/>
          </a:prstGeom>
          <a:noFill/>
          <a:ln/>
        </p:spPr>
        <p:txBody>
          <a:bodyPr wrap="square" lIns="0" tIns="0" rIns="0" bIns="0" rtlCol="0" anchor="t"/>
          <a:lstStyle/>
          <a:p>
            <a:r>
              <a:rPr lang="en-US" sz="1600" b="1" dirty="0">
                <a:solidFill>
                  <a:srgbClr val="3A8A5C"/>
                </a:solidFill>
                <a:latin typeface="Calibri" pitchFamily="34" charset="0"/>
                <a:ea typeface="Calibri" pitchFamily="34" charset="-122"/>
                <a:cs typeface="Calibri" pitchFamily="34" charset="-120"/>
              </a:rPr>
              <a:t>III. </a:t>
            </a:r>
            <a:r>
              <a:rPr lang="en-US" sz="1600" b="1" dirty="0">
                <a:solidFill>
                  <a:srgbClr val="1A4A2E"/>
                </a:solidFill>
                <a:latin typeface="Calibri" pitchFamily="34" charset="0"/>
                <a:ea typeface="Calibri" pitchFamily="34" charset="-122"/>
                <a:cs typeface="Calibri" pitchFamily="34" charset="-120"/>
              </a:rPr>
              <a:t>Oil and CDS series</a:t>
            </a:r>
            <a:endParaRPr lang="en-US" sz="1600" dirty="0"/>
          </a:p>
        </p:txBody>
      </p:sp>
      <p:sp>
        <p:nvSpPr>
          <p:cNvPr id="39" name="Text 37"/>
          <p:cNvSpPr/>
          <p:nvPr/>
        </p:nvSpPr>
        <p:spPr>
          <a:xfrm>
            <a:off x="707136" y="5340096"/>
            <a:ext cx="3169920" cy="365760"/>
          </a:xfrm>
          <a:prstGeom prst="rect">
            <a:avLst/>
          </a:prstGeom>
          <a:noFill/>
          <a:ln/>
        </p:spPr>
        <p:txBody>
          <a:bodyPr wrap="square" lIns="0" tIns="0" rIns="0" bIns="0" rtlCol="0" anchor="t"/>
          <a:lstStyle/>
          <a:p>
            <a:r>
              <a:rPr lang="en-US" sz="1600" b="1" dirty="0">
                <a:solidFill>
                  <a:srgbClr val="1A4A2E"/>
                </a:solidFill>
                <a:latin typeface="Calibri" pitchFamily="34" charset="0"/>
                <a:ea typeface="Calibri" pitchFamily="34" charset="-122"/>
                <a:cs typeface="Calibri" pitchFamily="34" charset="-120"/>
              </a:rPr>
              <a:t>exhibit jump behavior</a:t>
            </a:r>
            <a:endParaRPr lang="en-US" sz="1600" dirty="0"/>
          </a:p>
        </p:txBody>
      </p:sp>
      <p:sp>
        <p:nvSpPr>
          <p:cNvPr id="40" name="Text 38"/>
          <p:cNvSpPr/>
          <p:nvPr/>
        </p:nvSpPr>
        <p:spPr>
          <a:xfrm>
            <a:off x="707136" y="5937504"/>
            <a:ext cx="3169920" cy="341376"/>
          </a:xfrm>
          <a:prstGeom prst="rect">
            <a:avLst/>
          </a:prstGeom>
          <a:noFill/>
          <a:ln/>
        </p:spPr>
        <p:txBody>
          <a:bodyPr wrap="square" lIns="0" tIns="0" rIns="0" bIns="0" rtlCol="0" anchor="b"/>
          <a:lstStyle/>
          <a:p>
            <a:r>
              <a:rPr lang="en-US" sz="1200" i="1" dirty="0">
                <a:solidFill>
                  <a:srgbClr val="888888"/>
                </a:solidFill>
                <a:latin typeface="Calibri" pitchFamily="34" charset="0"/>
                <a:ea typeface="Calibri" pitchFamily="34" charset="-122"/>
                <a:cs typeface="Calibri" pitchFamily="34" charset="-120"/>
              </a:rPr>
              <a:t>Motivates model extension 2 (jump-diffusion)</a:t>
            </a:r>
            <a:endParaRPr lang="en-US" sz="1200" dirty="0"/>
          </a:p>
        </p:txBody>
      </p:sp>
      <p:sp>
        <p:nvSpPr>
          <p:cNvPr id="41" name="Shape 39"/>
          <p:cNvSpPr/>
          <p:nvPr/>
        </p:nvSpPr>
        <p:spPr>
          <a:xfrm>
            <a:off x="4450080" y="5175504"/>
            <a:ext cx="7315200" cy="426720"/>
          </a:xfrm>
          <a:prstGeom prst="roundRect">
            <a:avLst>
              <a:gd name="adj" fmla="val 14286"/>
            </a:avLst>
          </a:prstGeom>
          <a:solidFill>
            <a:srgbClr val="F5F5F5"/>
          </a:solidFill>
          <a:ln/>
        </p:spPr>
        <p:txBody>
          <a:bodyPr/>
          <a:lstStyle/>
          <a:p>
            <a:endParaRPr lang="en-US" sz="2400"/>
          </a:p>
        </p:txBody>
      </p:sp>
      <p:sp>
        <p:nvSpPr>
          <p:cNvPr id="42" name="Shape 40"/>
          <p:cNvSpPr/>
          <p:nvPr/>
        </p:nvSpPr>
        <p:spPr>
          <a:xfrm>
            <a:off x="4547616" y="5236464"/>
            <a:ext cx="304800" cy="304800"/>
          </a:xfrm>
          <a:prstGeom prst="ellipse">
            <a:avLst/>
          </a:prstGeom>
          <a:solidFill>
            <a:srgbClr val="3A8A5C"/>
          </a:solidFill>
          <a:ln/>
        </p:spPr>
        <p:txBody>
          <a:bodyPr/>
          <a:lstStyle/>
          <a:p>
            <a:endParaRPr lang="en-US" sz="2400"/>
          </a:p>
        </p:txBody>
      </p:sp>
      <p:sp>
        <p:nvSpPr>
          <p:cNvPr id="43" name="Text 41"/>
          <p:cNvSpPr/>
          <p:nvPr/>
        </p:nvSpPr>
        <p:spPr>
          <a:xfrm>
            <a:off x="4547616" y="5236464"/>
            <a:ext cx="304800" cy="304800"/>
          </a:xfrm>
          <a:prstGeom prst="rect">
            <a:avLst/>
          </a:prstGeom>
          <a:noFill/>
          <a:ln/>
        </p:spPr>
        <p:txBody>
          <a:bodyPr wrap="square" lIns="0" tIns="0" rIns="0" bIns="0" rtlCol="0" anchor="ctr"/>
          <a:lstStyle/>
          <a:p>
            <a:pPr algn="ctr"/>
            <a:r>
              <a:rPr lang="en-US" sz="1333" b="1" dirty="0">
                <a:solidFill>
                  <a:srgbClr val="FFFFFF"/>
                </a:solidFill>
                <a:latin typeface="Calibri" pitchFamily="34" charset="0"/>
                <a:ea typeface="Calibri" pitchFamily="34" charset="-122"/>
                <a:cs typeface="Calibri" pitchFamily="34" charset="-120"/>
              </a:rPr>
              <a:t>f</a:t>
            </a:r>
            <a:endParaRPr lang="en-US" sz="1333" dirty="0"/>
          </a:p>
        </p:txBody>
      </p:sp>
      <p:sp>
        <p:nvSpPr>
          <p:cNvPr id="44" name="Text 42"/>
          <p:cNvSpPr/>
          <p:nvPr/>
        </p:nvSpPr>
        <p:spPr>
          <a:xfrm>
            <a:off x="4962144" y="5175504"/>
            <a:ext cx="6681216" cy="426720"/>
          </a:xfrm>
          <a:prstGeom prst="rect">
            <a:avLst/>
          </a:prstGeom>
          <a:noFill/>
          <a:ln/>
        </p:spPr>
        <p:txBody>
          <a:bodyPr wrap="square" lIns="0" tIns="0" rIns="0" bIns="0" rtlCol="0" anchor="ctr"/>
          <a:lstStyle/>
          <a:p>
            <a:r>
              <a:rPr lang="en-US" sz="1267" dirty="0">
                <a:solidFill>
                  <a:srgbClr val="2A2A2A"/>
                </a:solidFill>
                <a:latin typeface="Calibri" pitchFamily="34" charset="0"/>
                <a:ea typeface="Calibri" pitchFamily="34" charset="-122"/>
                <a:cs typeface="Calibri" pitchFamily="34" charset="-120"/>
              </a:rPr>
              <a:t>Oil and CDS contain sudden large moves, that aren’t explained by volatility clustering alone. A GARCH-Jump model fits significantly better by BIC and log-likelihood than a GARCH only model</a:t>
            </a:r>
            <a:endParaRPr lang="en-US" sz="1267" dirty="0"/>
          </a:p>
        </p:txBody>
      </p:sp>
      <p:sp>
        <p:nvSpPr>
          <p:cNvPr id="45" name="Shape 43"/>
          <p:cNvSpPr/>
          <p:nvPr/>
        </p:nvSpPr>
        <p:spPr>
          <a:xfrm>
            <a:off x="4450080" y="5675376"/>
            <a:ext cx="7315200" cy="426720"/>
          </a:xfrm>
          <a:prstGeom prst="roundRect">
            <a:avLst>
              <a:gd name="adj" fmla="val 14286"/>
            </a:avLst>
          </a:prstGeom>
          <a:solidFill>
            <a:srgbClr val="F5F5F5"/>
          </a:solidFill>
          <a:ln/>
        </p:spPr>
        <p:txBody>
          <a:bodyPr/>
          <a:lstStyle/>
          <a:p>
            <a:endParaRPr lang="en-US" sz="2400"/>
          </a:p>
        </p:txBody>
      </p:sp>
      <p:sp>
        <p:nvSpPr>
          <p:cNvPr id="46" name="Shape 44"/>
          <p:cNvSpPr/>
          <p:nvPr/>
        </p:nvSpPr>
        <p:spPr>
          <a:xfrm>
            <a:off x="4547616" y="5736336"/>
            <a:ext cx="304800" cy="304800"/>
          </a:xfrm>
          <a:prstGeom prst="ellipse">
            <a:avLst/>
          </a:prstGeom>
          <a:solidFill>
            <a:srgbClr val="3A8A5C"/>
          </a:solidFill>
          <a:ln/>
        </p:spPr>
        <p:txBody>
          <a:bodyPr/>
          <a:lstStyle/>
          <a:p>
            <a:endParaRPr lang="en-US" sz="2400"/>
          </a:p>
        </p:txBody>
      </p:sp>
      <p:sp>
        <p:nvSpPr>
          <p:cNvPr id="47" name="Text 45"/>
          <p:cNvSpPr/>
          <p:nvPr/>
        </p:nvSpPr>
        <p:spPr>
          <a:xfrm>
            <a:off x="4547616" y="5736336"/>
            <a:ext cx="304800" cy="304800"/>
          </a:xfrm>
          <a:prstGeom prst="rect">
            <a:avLst/>
          </a:prstGeom>
          <a:noFill/>
          <a:ln/>
        </p:spPr>
        <p:txBody>
          <a:bodyPr wrap="square" lIns="0" tIns="0" rIns="0" bIns="0" rtlCol="0" anchor="ctr"/>
          <a:lstStyle/>
          <a:p>
            <a:pPr algn="ctr"/>
            <a:r>
              <a:rPr lang="en-US" sz="1333" b="1" dirty="0">
                <a:solidFill>
                  <a:srgbClr val="FFFFFF"/>
                </a:solidFill>
                <a:latin typeface="Calibri" pitchFamily="34" charset="0"/>
                <a:ea typeface="Calibri" pitchFamily="34" charset="-122"/>
                <a:cs typeface="Calibri" pitchFamily="34" charset="-120"/>
              </a:rPr>
              <a:t>g</a:t>
            </a:r>
            <a:endParaRPr lang="en-US" sz="1333" dirty="0"/>
          </a:p>
        </p:txBody>
      </p:sp>
      <p:sp>
        <p:nvSpPr>
          <p:cNvPr id="48" name="Text 46"/>
          <p:cNvSpPr/>
          <p:nvPr/>
        </p:nvSpPr>
        <p:spPr>
          <a:xfrm>
            <a:off x="4962144" y="5675376"/>
            <a:ext cx="6681216" cy="426720"/>
          </a:xfrm>
          <a:prstGeom prst="rect">
            <a:avLst/>
          </a:prstGeom>
          <a:noFill/>
          <a:ln/>
        </p:spPr>
        <p:txBody>
          <a:bodyPr wrap="square" lIns="0" tIns="0" rIns="0" bIns="0" rtlCol="0" anchor="ctr"/>
          <a:lstStyle/>
          <a:p>
            <a:r>
              <a:rPr lang="en-US" sz="1267" dirty="0">
                <a:solidFill>
                  <a:srgbClr val="2A2A2A"/>
                </a:solidFill>
                <a:latin typeface="Calibri" pitchFamily="34" charset="0"/>
                <a:ea typeface="Calibri" pitchFamily="34" charset="-122"/>
                <a:cs typeface="Calibri" pitchFamily="34" charset="-120"/>
              </a:rPr>
              <a:t>Jumps in Oil and CDS are skewed (negative for oil, positive for CDS) and tend to happen at the same time</a:t>
            </a:r>
            <a:endParaRPr lang="en-US" sz="1267" dirty="0"/>
          </a:p>
        </p:txBody>
      </p:sp>
      <p:sp>
        <p:nvSpPr>
          <p:cNvPr id="49" name="Shape 47"/>
          <p:cNvSpPr/>
          <p:nvPr/>
        </p:nvSpPr>
        <p:spPr>
          <a:xfrm>
            <a:off x="4084320" y="5638800"/>
            <a:ext cx="304800" cy="0"/>
          </a:xfrm>
          <a:prstGeom prst="line">
            <a:avLst/>
          </a:prstGeom>
          <a:noFill/>
          <a:ln w="15240">
            <a:solidFill>
              <a:srgbClr val="3A8A5C"/>
            </a:solidFill>
            <a:prstDash val="solid"/>
            <a:tailEnd type="triangle"/>
          </a:ln>
        </p:spPr>
        <p:txBody>
          <a:bodyPr/>
          <a:lstStyle/>
          <a:p>
            <a:endParaRPr lang="en-US" sz="2400"/>
          </a:p>
        </p:txBody>
      </p:sp>
      <p:sp>
        <p:nvSpPr>
          <p:cNvPr id="58" name="Text 1">
            <a:extLst>
              <a:ext uri="{FF2B5EF4-FFF2-40B4-BE49-F238E27FC236}">
                <a16:creationId xmlns:a16="http://schemas.microsoft.com/office/drawing/2014/main" id="{31FE2B4C-92FA-67E5-0BE2-60391D5B1B49}"/>
              </a:ext>
            </a:extLst>
          </p:cNvPr>
          <p:cNvSpPr/>
          <p:nvPr/>
        </p:nvSpPr>
        <p:spPr>
          <a:xfrm>
            <a:off x="487680" y="478859"/>
            <a:ext cx="10972800" cy="792480"/>
          </a:xfrm>
          <a:prstGeom prst="rect">
            <a:avLst/>
          </a:prstGeom>
          <a:noFill/>
          <a:ln/>
        </p:spPr>
        <p:txBody>
          <a:bodyPr wrap="square" lIns="0" tIns="0" rIns="0" bIns="0" rtlCol="0" anchor="ctr"/>
          <a:lstStyle/>
          <a:p>
            <a:pPr>
              <a:lnSpc>
                <a:spcPct val="130000"/>
              </a:lnSpc>
            </a:pPr>
            <a:r>
              <a:rPr lang="en-US" sz="1467" dirty="0">
                <a:solidFill>
                  <a:srgbClr val="444444"/>
                </a:solidFill>
                <a:latin typeface="Calibri" pitchFamily="34" charset="0"/>
                <a:ea typeface="Calibri" pitchFamily="34" charset="-122"/>
                <a:cs typeface="Calibri" pitchFamily="34" charset="-120"/>
              </a:rPr>
              <a:t>Empirical evidence that supports the choice of model and the proposed extension</a:t>
            </a:r>
            <a:endParaRPr lang="en-US" sz="1467"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87680" y="243840"/>
            <a:ext cx="11216640" cy="609600"/>
          </a:xfrm>
          <a:prstGeom prst="rect">
            <a:avLst/>
          </a:prstGeom>
          <a:noFill/>
          <a:ln/>
        </p:spPr>
        <p:txBody>
          <a:bodyPr wrap="square" lIns="0" tIns="0" rIns="0" bIns="0" rtlCol="0" anchor="ctr"/>
          <a:lstStyle/>
          <a:p>
            <a:r>
              <a:rPr lang="en-US" sz="2667" b="1" dirty="0">
                <a:solidFill>
                  <a:srgbClr val="1B2A4A"/>
                </a:solidFill>
                <a:latin typeface="Georgia" pitchFamily="34" charset="0"/>
                <a:ea typeface="Georgia" pitchFamily="34" charset="-122"/>
                <a:cs typeface="Georgia" pitchFamily="34" charset="-120"/>
              </a:rPr>
              <a:t>Baseline model: Contingent Claims Analysis</a:t>
            </a:r>
            <a:endParaRPr lang="en-US" sz="2667" dirty="0"/>
          </a:p>
        </p:txBody>
      </p:sp>
      <p:sp>
        <p:nvSpPr>
          <p:cNvPr id="3" name="Text 1"/>
          <p:cNvSpPr/>
          <p:nvPr/>
        </p:nvSpPr>
        <p:spPr>
          <a:xfrm>
            <a:off x="487680" y="792480"/>
            <a:ext cx="11216640" cy="365760"/>
          </a:xfrm>
          <a:prstGeom prst="rect">
            <a:avLst/>
          </a:prstGeom>
          <a:noFill/>
          <a:ln/>
        </p:spPr>
        <p:txBody>
          <a:bodyPr wrap="square" lIns="0" tIns="0" rIns="0" bIns="0" rtlCol="0" anchor="ctr"/>
          <a:lstStyle/>
          <a:p>
            <a:r>
              <a:rPr lang="en-US" sz="1333" i="1" dirty="0">
                <a:solidFill>
                  <a:srgbClr val="777777"/>
                </a:solidFill>
                <a:latin typeface="Calibri" pitchFamily="34" charset="0"/>
                <a:ea typeface="Calibri" pitchFamily="34" charset="-122"/>
                <a:cs typeface="Calibri" pitchFamily="34" charset="-120"/>
              </a:rPr>
              <a:t>Gray, Merton &amp; Bodie (2007); Gapen et al. (2005, 2008)</a:t>
            </a:r>
            <a:endParaRPr lang="en-US" sz="1333" dirty="0"/>
          </a:p>
        </p:txBody>
      </p:sp>
      <p:sp>
        <p:nvSpPr>
          <p:cNvPr id="4" name="Text 2"/>
          <p:cNvSpPr/>
          <p:nvPr/>
        </p:nvSpPr>
        <p:spPr>
          <a:xfrm>
            <a:off x="341376" y="1331495"/>
            <a:ext cx="5364480" cy="365760"/>
          </a:xfrm>
          <a:prstGeom prst="rect">
            <a:avLst/>
          </a:prstGeom>
          <a:noFill/>
          <a:ln/>
        </p:spPr>
        <p:txBody>
          <a:bodyPr wrap="square" lIns="0" tIns="0" rIns="0" bIns="0" rtlCol="0" anchor="ctr"/>
          <a:lstStyle/>
          <a:p>
            <a:pPr algn="ctr"/>
            <a:r>
              <a:rPr lang="en-US" sz="1467" b="1" dirty="0">
                <a:solidFill>
                  <a:srgbClr val="2C5F8A"/>
                </a:solidFill>
                <a:latin typeface="Calibri" pitchFamily="34" charset="0"/>
                <a:ea typeface="Calibri" pitchFamily="34" charset="-122"/>
                <a:cs typeface="Calibri" pitchFamily="34" charset="-120"/>
              </a:rPr>
              <a:t>Sovereign Balance Sheet</a:t>
            </a:r>
            <a:endParaRPr lang="en-US" sz="1467" dirty="0"/>
          </a:p>
        </p:txBody>
      </p:sp>
      <p:sp>
        <p:nvSpPr>
          <p:cNvPr id="5" name="Shape 3"/>
          <p:cNvSpPr/>
          <p:nvPr/>
        </p:nvSpPr>
        <p:spPr>
          <a:xfrm>
            <a:off x="365760" y="1743456"/>
            <a:ext cx="5364480" cy="36576"/>
          </a:xfrm>
          <a:prstGeom prst="rect">
            <a:avLst/>
          </a:prstGeom>
          <a:solidFill>
            <a:srgbClr val="444444"/>
          </a:solidFill>
          <a:ln/>
        </p:spPr>
        <p:txBody>
          <a:bodyPr/>
          <a:lstStyle/>
          <a:p>
            <a:endParaRPr lang="en-US" sz="2400"/>
          </a:p>
        </p:txBody>
      </p:sp>
      <p:sp>
        <p:nvSpPr>
          <p:cNvPr id="6" name="Text 4"/>
          <p:cNvSpPr/>
          <p:nvPr/>
        </p:nvSpPr>
        <p:spPr>
          <a:xfrm>
            <a:off x="365760" y="1804416"/>
            <a:ext cx="2657856" cy="390144"/>
          </a:xfrm>
          <a:prstGeom prst="rect">
            <a:avLst/>
          </a:prstGeom>
          <a:solidFill>
            <a:srgbClr val="EAF2E6"/>
          </a:solidFill>
          <a:ln/>
        </p:spPr>
        <p:txBody>
          <a:bodyPr wrap="square" lIns="0" tIns="0" rIns="0" bIns="0" rtlCol="0" anchor="ctr"/>
          <a:lstStyle/>
          <a:p>
            <a:pPr algn="ctr"/>
            <a:r>
              <a:rPr lang="en-US" sz="1333" b="1" dirty="0">
                <a:solidFill>
                  <a:srgbClr val="3A7D44"/>
                </a:solidFill>
                <a:latin typeface="Calibri" pitchFamily="34" charset="0"/>
                <a:ea typeface="Calibri" pitchFamily="34" charset="-122"/>
                <a:cs typeface="Calibri" pitchFamily="34" charset="-120"/>
              </a:rPr>
              <a:t>ASSETS</a:t>
            </a:r>
            <a:endParaRPr lang="en-US" sz="1333" dirty="0"/>
          </a:p>
        </p:txBody>
      </p:sp>
      <p:sp>
        <p:nvSpPr>
          <p:cNvPr id="7" name="Text 5"/>
          <p:cNvSpPr/>
          <p:nvPr/>
        </p:nvSpPr>
        <p:spPr>
          <a:xfrm>
            <a:off x="3072384" y="1804416"/>
            <a:ext cx="2657856" cy="390144"/>
          </a:xfrm>
          <a:prstGeom prst="rect">
            <a:avLst/>
          </a:prstGeom>
          <a:solidFill>
            <a:srgbClr val="F5EAEA"/>
          </a:solidFill>
          <a:ln/>
        </p:spPr>
        <p:txBody>
          <a:bodyPr wrap="square" lIns="0" tIns="0" rIns="0" bIns="0" rtlCol="0" anchor="ctr"/>
          <a:lstStyle/>
          <a:p>
            <a:pPr algn="ctr"/>
            <a:r>
              <a:rPr lang="en-US" sz="1333" b="1" dirty="0">
                <a:solidFill>
                  <a:srgbClr val="8B3A3A"/>
                </a:solidFill>
                <a:latin typeface="Calibri" pitchFamily="34" charset="0"/>
                <a:ea typeface="Calibri" pitchFamily="34" charset="-122"/>
                <a:cs typeface="Calibri" pitchFamily="34" charset="-120"/>
              </a:rPr>
              <a:t>LIABILITIES</a:t>
            </a:r>
            <a:endParaRPr lang="en-US" sz="1333" dirty="0"/>
          </a:p>
        </p:txBody>
      </p:sp>
      <p:sp>
        <p:nvSpPr>
          <p:cNvPr id="8" name="Shape 6"/>
          <p:cNvSpPr/>
          <p:nvPr/>
        </p:nvSpPr>
        <p:spPr>
          <a:xfrm>
            <a:off x="3035807" y="1743456"/>
            <a:ext cx="45719" cy="2709575"/>
          </a:xfrm>
          <a:prstGeom prst="rect">
            <a:avLst/>
          </a:prstGeom>
          <a:solidFill>
            <a:srgbClr val="444444"/>
          </a:solidFill>
          <a:ln/>
        </p:spPr>
        <p:txBody>
          <a:bodyPr/>
          <a:lstStyle/>
          <a:p>
            <a:endParaRPr lang="en-US" sz="2400"/>
          </a:p>
        </p:txBody>
      </p:sp>
      <p:sp>
        <p:nvSpPr>
          <p:cNvPr id="9" name="Shape 7"/>
          <p:cNvSpPr/>
          <p:nvPr/>
        </p:nvSpPr>
        <p:spPr>
          <a:xfrm>
            <a:off x="353568" y="4428652"/>
            <a:ext cx="5364480" cy="24384"/>
          </a:xfrm>
          <a:prstGeom prst="rect">
            <a:avLst/>
          </a:prstGeom>
          <a:solidFill>
            <a:srgbClr val="444444"/>
          </a:solidFill>
          <a:ln/>
        </p:spPr>
        <p:txBody>
          <a:bodyPr/>
          <a:lstStyle/>
          <a:p>
            <a:endParaRPr lang="en-US" sz="2400"/>
          </a:p>
        </p:txBody>
      </p:sp>
      <p:sp>
        <p:nvSpPr>
          <p:cNvPr id="10" name="Shape 8"/>
          <p:cNvSpPr/>
          <p:nvPr/>
        </p:nvSpPr>
        <p:spPr>
          <a:xfrm>
            <a:off x="365759" y="1743456"/>
            <a:ext cx="45719" cy="2709573"/>
          </a:xfrm>
          <a:prstGeom prst="rect">
            <a:avLst/>
          </a:prstGeom>
          <a:solidFill>
            <a:srgbClr val="444444"/>
          </a:solidFill>
          <a:ln/>
        </p:spPr>
        <p:txBody>
          <a:bodyPr/>
          <a:lstStyle/>
          <a:p>
            <a:endParaRPr lang="en-US" sz="2400"/>
          </a:p>
        </p:txBody>
      </p:sp>
      <p:sp>
        <p:nvSpPr>
          <p:cNvPr id="11" name="Shape 9"/>
          <p:cNvSpPr/>
          <p:nvPr/>
        </p:nvSpPr>
        <p:spPr>
          <a:xfrm>
            <a:off x="5705855" y="1743456"/>
            <a:ext cx="45719" cy="2709580"/>
          </a:xfrm>
          <a:prstGeom prst="rect">
            <a:avLst/>
          </a:prstGeom>
          <a:solidFill>
            <a:srgbClr val="444444"/>
          </a:solidFill>
          <a:ln/>
        </p:spPr>
        <p:txBody>
          <a:bodyPr/>
          <a:lstStyle/>
          <a:p>
            <a:endParaRPr lang="en-US" sz="2400"/>
          </a:p>
        </p:txBody>
      </p:sp>
      <p:sp>
        <p:nvSpPr>
          <p:cNvPr id="12" name="Text 10"/>
          <p:cNvSpPr/>
          <p:nvPr/>
        </p:nvSpPr>
        <p:spPr>
          <a:xfrm>
            <a:off x="512064" y="2316480"/>
            <a:ext cx="2377440" cy="341376"/>
          </a:xfrm>
          <a:prstGeom prst="rect">
            <a:avLst/>
          </a:prstGeom>
          <a:noFill/>
          <a:ln/>
        </p:spPr>
        <p:txBody>
          <a:bodyPr wrap="square" lIns="0" tIns="0" rIns="0" bIns="0" rtlCol="0" anchor="ctr"/>
          <a:lstStyle/>
          <a:p>
            <a:r>
              <a:rPr lang="en-US" sz="1467" dirty="0">
                <a:solidFill>
                  <a:srgbClr val="1A1A1A"/>
                </a:solidFill>
                <a:latin typeface="Calibri" pitchFamily="34" charset="0"/>
                <a:ea typeface="Calibri" pitchFamily="34" charset="-122"/>
                <a:cs typeface="Calibri" pitchFamily="34" charset="-120"/>
              </a:rPr>
              <a:t>Foreign Reserves</a:t>
            </a:r>
            <a:endParaRPr lang="en-US" sz="1467" dirty="0"/>
          </a:p>
        </p:txBody>
      </p:sp>
      <p:sp>
        <p:nvSpPr>
          <p:cNvPr id="13" name="Text 11"/>
          <p:cNvSpPr/>
          <p:nvPr/>
        </p:nvSpPr>
        <p:spPr>
          <a:xfrm>
            <a:off x="512064" y="2743200"/>
            <a:ext cx="2377440" cy="341376"/>
          </a:xfrm>
          <a:prstGeom prst="rect">
            <a:avLst/>
          </a:prstGeom>
          <a:noFill/>
          <a:ln/>
        </p:spPr>
        <p:txBody>
          <a:bodyPr wrap="square" lIns="0" tIns="0" rIns="0" bIns="0" rtlCol="0" anchor="ctr"/>
          <a:lstStyle/>
          <a:p>
            <a:r>
              <a:rPr lang="en-US" sz="1467" dirty="0">
                <a:solidFill>
                  <a:srgbClr val="1A1A1A"/>
                </a:solidFill>
                <a:latin typeface="Calibri" pitchFamily="34" charset="0"/>
                <a:ea typeface="Calibri" pitchFamily="34" charset="-122"/>
                <a:cs typeface="Calibri" pitchFamily="34" charset="-120"/>
              </a:rPr>
              <a:t>Net Fiscal Assets</a:t>
            </a:r>
            <a:endParaRPr lang="en-US" sz="1467" dirty="0"/>
          </a:p>
        </p:txBody>
      </p:sp>
      <p:sp>
        <p:nvSpPr>
          <p:cNvPr id="14" name="Text 12"/>
          <p:cNvSpPr/>
          <p:nvPr/>
        </p:nvSpPr>
        <p:spPr>
          <a:xfrm>
            <a:off x="512064" y="3169920"/>
            <a:ext cx="2377440" cy="341376"/>
          </a:xfrm>
          <a:prstGeom prst="rect">
            <a:avLst/>
          </a:prstGeom>
          <a:noFill/>
          <a:ln/>
        </p:spPr>
        <p:txBody>
          <a:bodyPr wrap="square" lIns="0" tIns="0" rIns="0" bIns="0" rtlCol="0" anchor="ctr"/>
          <a:lstStyle/>
          <a:p>
            <a:r>
              <a:rPr lang="en-US" sz="1467" dirty="0">
                <a:solidFill>
                  <a:srgbClr val="1A1A1A"/>
                </a:solidFill>
                <a:latin typeface="Calibri" pitchFamily="34" charset="0"/>
                <a:ea typeface="Calibri" pitchFamily="34" charset="-122"/>
                <a:cs typeface="Calibri" pitchFamily="34" charset="-120"/>
              </a:rPr>
              <a:t>Other Public Assets</a:t>
            </a:r>
            <a:endParaRPr lang="en-US" sz="1467" dirty="0"/>
          </a:p>
        </p:txBody>
      </p:sp>
      <p:sp>
        <p:nvSpPr>
          <p:cNvPr id="15" name="Shape 13"/>
          <p:cNvSpPr/>
          <p:nvPr/>
        </p:nvSpPr>
        <p:spPr>
          <a:xfrm>
            <a:off x="573024" y="3596640"/>
            <a:ext cx="0" cy="146304"/>
          </a:xfrm>
          <a:prstGeom prst="line">
            <a:avLst/>
          </a:prstGeom>
          <a:noFill/>
          <a:ln w="12700">
            <a:solidFill>
              <a:srgbClr val="777777"/>
            </a:solidFill>
            <a:prstDash val="solid"/>
          </a:ln>
        </p:spPr>
        <p:txBody>
          <a:bodyPr/>
          <a:lstStyle/>
          <a:p>
            <a:endParaRPr lang="en-US" sz="2400"/>
          </a:p>
        </p:txBody>
      </p:sp>
      <p:sp>
        <p:nvSpPr>
          <p:cNvPr id="16" name="Shape 14"/>
          <p:cNvSpPr/>
          <p:nvPr/>
        </p:nvSpPr>
        <p:spPr>
          <a:xfrm>
            <a:off x="2706624" y="3596640"/>
            <a:ext cx="0" cy="146304"/>
          </a:xfrm>
          <a:prstGeom prst="line">
            <a:avLst/>
          </a:prstGeom>
          <a:noFill/>
          <a:ln w="12700">
            <a:solidFill>
              <a:srgbClr val="777777"/>
            </a:solidFill>
            <a:prstDash val="solid"/>
          </a:ln>
        </p:spPr>
        <p:txBody>
          <a:bodyPr/>
          <a:lstStyle/>
          <a:p>
            <a:endParaRPr lang="en-US" sz="2400"/>
          </a:p>
        </p:txBody>
      </p:sp>
      <p:sp>
        <p:nvSpPr>
          <p:cNvPr id="17" name="Shape 15"/>
          <p:cNvSpPr/>
          <p:nvPr/>
        </p:nvSpPr>
        <p:spPr>
          <a:xfrm>
            <a:off x="573024" y="3742944"/>
            <a:ext cx="2133600" cy="0"/>
          </a:xfrm>
          <a:prstGeom prst="line">
            <a:avLst/>
          </a:prstGeom>
          <a:noFill/>
          <a:ln w="12700">
            <a:solidFill>
              <a:srgbClr val="777777"/>
            </a:solidFill>
            <a:prstDash val="solid"/>
          </a:ln>
        </p:spPr>
        <p:txBody>
          <a:bodyPr/>
          <a:lstStyle/>
          <a:p>
            <a:endParaRPr lang="en-US" sz="2400"/>
          </a:p>
        </p:txBody>
      </p:sp>
      <p:sp>
        <p:nvSpPr>
          <p:cNvPr id="18" name="Shape 16"/>
          <p:cNvSpPr/>
          <p:nvPr/>
        </p:nvSpPr>
        <p:spPr>
          <a:xfrm>
            <a:off x="1639824" y="3742944"/>
            <a:ext cx="0" cy="121920"/>
          </a:xfrm>
          <a:prstGeom prst="line">
            <a:avLst/>
          </a:prstGeom>
          <a:noFill/>
          <a:ln w="12700">
            <a:solidFill>
              <a:srgbClr val="777777"/>
            </a:solidFill>
            <a:prstDash val="solid"/>
          </a:ln>
        </p:spPr>
        <p:txBody>
          <a:bodyPr/>
          <a:lstStyle/>
          <a:p>
            <a:endParaRPr lang="en-US" sz="2400"/>
          </a:p>
        </p:txBody>
      </p:sp>
      <p:sp>
        <p:nvSpPr>
          <p:cNvPr id="19" name="Text 17"/>
          <p:cNvSpPr/>
          <p:nvPr/>
        </p:nvSpPr>
        <p:spPr>
          <a:xfrm>
            <a:off x="390144" y="3901440"/>
            <a:ext cx="2621280" cy="341376"/>
          </a:xfrm>
          <a:prstGeom prst="rect">
            <a:avLst/>
          </a:prstGeom>
          <a:noFill/>
          <a:ln/>
        </p:spPr>
        <p:txBody>
          <a:bodyPr wrap="square" lIns="0" tIns="0" rIns="0" bIns="0" rtlCol="0" anchor="ctr"/>
          <a:lstStyle/>
          <a:p>
            <a:pPr algn="ctr"/>
            <a:r>
              <a:rPr lang="en-US" sz="1200" i="1" dirty="0">
                <a:solidFill>
                  <a:srgbClr val="2C5F8A"/>
                </a:solidFill>
                <a:latin typeface="Calibri" pitchFamily="34" charset="0"/>
                <a:ea typeface="Calibri" pitchFamily="34" charset="-122"/>
                <a:cs typeface="Calibri" pitchFamily="34" charset="-120"/>
              </a:rPr>
              <a:t>Implied sovereign asset value  A</a:t>
            </a:r>
            <a:endParaRPr lang="en-US" sz="1200" dirty="0"/>
          </a:p>
        </p:txBody>
      </p:sp>
      <p:sp>
        <p:nvSpPr>
          <p:cNvPr id="20" name="Text 18"/>
          <p:cNvSpPr/>
          <p:nvPr/>
        </p:nvSpPr>
        <p:spPr>
          <a:xfrm>
            <a:off x="390144" y="4145280"/>
            <a:ext cx="2621280" cy="268224"/>
          </a:xfrm>
          <a:prstGeom prst="rect">
            <a:avLst/>
          </a:prstGeom>
          <a:noFill/>
          <a:ln/>
        </p:spPr>
        <p:txBody>
          <a:bodyPr wrap="square" lIns="0" tIns="0" rIns="0" bIns="0" rtlCol="0" anchor="ctr"/>
          <a:lstStyle/>
          <a:p>
            <a:pPr algn="ctr"/>
            <a:r>
              <a:rPr lang="en-US" sz="1067" i="1" dirty="0">
                <a:solidFill>
                  <a:srgbClr val="777777"/>
                </a:solidFill>
                <a:latin typeface="Calibri" pitchFamily="34" charset="0"/>
                <a:ea typeface="Calibri" pitchFamily="34" charset="-122"/>
                <a:cs typeface="Calibri" pitchFamily="34" charset="-120"/>
              </a:rPr>
              <a:t>(unobservable)</a:t>
            </a:r>
            <a:endParaRPr lang="en-US" sz="1067" dirty="0"/>
          </a:p>
        </p:txBody>
      </p:sp>
      <p:sp>
        <p:nvSpPr>
          <p:cNvPr id="21" name="Shape 19"/>
          <p:cNvSpPr/>
          <p:nvPr/>
        </p:nvSpPr>
        <p:spPr>
          <a:xfrm>
            <a:off x="3169920" y="2279904"/>
            <a:ext cx="2438400" cy="548640"/>
          </a:xfrm>
          <a:prstGeom prst="rect">
            <a:avLst/>
          </a:prstGeom>
          <a:solidFill>
            <a:srgbClr val="F5EAEA"/>
          </a:solidFill>
          <a:ln/>
        </p:spPr>
        <p:txBody>
          <a:bodyPr/>
          <a:lstStyle/>
          <a:p>
            <a:endParaRPr lang="en-US" sz="2400"/>
          </a:p>
        </p:txBody>
      </p:sp>
      <p:sp>
        <p:nvSpPr>
          <p:cNvPr id="22" name="Text 20"/>
          <p:cNvSpPr/>
          <p:nvPr/>
        </p:nvSpPr>
        <p:spPr>
          <a:xfrm>
            <a:off x="3230880" y="2292096"/>
            <a:ext cx="2377440" cy="243840"/>
          </a:xfrm>
          <a:prstGeom prst="rect">
            <a:avLst/>
          </a:prstGeom>
          <a:noFill/>
          <a:ln/>
        </p:spPr>
        <p:txBody>
          <a:bodyPr wrap="square" lIns="0" tIns="0" rIns="0" bIns="0" rtlCol="0" anchor="ctr"/>
          <a:lstStyle/>
          <a:p>
            <a:r>
              <a:rPr lang="en-US" sz="1467" b="1" dirty="0">
                <a:solidFill>
                  <a:srgbClr val="8B3A3A"/>
                </a:solidFill>
                <a:latin typeface="Calibri" pitchFamily="34" charset="0"/>
                <a:ea typeface="Calibri" pitchFamily="34" charset="-122"/>
                <a:cs typeface="Calibri" pitchFamily="34" charset="-120"/>
              </a:rPr>
              <a:t>Foreign Currency Debt</a:t>
            </a:r>
            <a:endParaRPr lang="en-US" sz="1467" dirty="0"/>
          </a:p>
        </p:txBody>
      </p:sp>
      <p:sp>
        <p:nvSpPr>
          <p:cNvPr id="23" name="Text 21"/>
          <p:cNvSpPr/>
          <p:nvPr/>
        </p:nvSpPr>
        <p:spPr>
          <a:xfrm>
            <a:off x="3230880" y="2535936"/>
            <a:ext cx="2377440" cy="243840"/>
          </a:xfrm>
          <a:prstGeom prst="rect">
            <a:avLst/>
          </a:prstGeom>
          <a:noFill/>
          <a:ln/>
        </p:spPr>
        <p:txBody>
          <a:bodyPr wrap="square" lIns="0" tIns="0" rIns="0" bIns="0" rtlCol="0" anchor="ctr"/>
          <a:lstStyle/>
          <a:p>
            <a:r>
              <a:rPr lang="en-US" sz="1200" i="1" dirty="0">
                <a:solidFill>
                  <a:srgbClr val="777777"/>
                </a:solidFill>
                <a:latin typeface="Calibri" pitchFamily="34" charset="0"/>
                <a:ea typeface="Calibri" pitchFamily="34" charset="-122"/>
                <a:cs typeface="Calibri" pitchFamily="34" charset="-120"/>
              </a:rPr>
              <a:t>= Distress Barrier  B</a:t>
            </a:r>
            <a:endParaRPr lang="en-US" sz="1200" dirty="0"/>
          </a:p>
        </p:txBody>
      </p:sp>
      <p:sp>
        <p:nvSpPr>
          <p:cNvPr id="24" name="Text 22"/>
          <p:cNvSpPr/>
          <p:nvPr/>
        </p:nvSpPr>
        <p:spPr>
          <a:xfrm>
            <a:off x="3230880" y="2987040"/>
            <a:ext cx="2377440" cy="304800"/>
          </a:xfrm>
          <a:prstGeom prst="rect">
            <a:avLst/>
          </a:prstGeom>
          <a:noFill/>
          <a:ln/>
        </p:spPr>
        <p:txBody>
          <a:bodyPr wrap="square" lIns="0" tIns="0" rIns="0" bIns="0" rtlCol="0" anchor="ctr"/>
          <a:lstStyle/>
          <a:p>
            <a:r>
              <a:rPr lang="en-US" sz="1467" b="1" dirty="0">
                <a:solidFill>
                  <a:srgbClr val="8B3A3A"/>
                </a:solidFill>
                <a:latin typeface="Calibri" pitchFamily="34" charset="0"/>
                <a:ea typeface="Calibri" pitchFamily="34" charset="-122"/>
                <a:cs typeface="Calibri" pitchFamily="34" charset="-120"/>
              </a:rPr>
              <a:t>Local Currency Liabilities</a:t>
            </a:r>
            <a:endParaRPr lang="en-US" sz="1467" dirty="0"/>
          </a:p>
        </p:txBody>
      </p:sp>
      <p:sp>
        <p:nvSpPr>
          <p:cNvPr id="25" name="Text 23"/>
          <p:cNvSpPr/>
          <p:nvPr/>
        </p:nvSpPr>
        <p:spPr>
          <a:xfrm>
            <a:off x="3474720" y="3221873"/>
            <a:ext cx="2133600" cy="268224"/>
          </a:xfrm>
          <a:prstGeom prst="rect">
            <a:avLst/>
          </a:prstGeom>
          <a:noFill/>
          <a:ln/>
        </p:spPr>
        <p:txBody>
          <a:bodyPr wrap="square" lIns="0" tIns="0" rIns="0" bIns="0" rtlCol="0" anchor="ctr"/>
          <a:lstStyle/>
          <a:p>
            <a:r>
              <a:rPr lang="en-US" sz="1333" dirty="0">
                <a:solidFill>
                  <a:srgbClr val="333333"/>
                </a:solidFill>
                <a:latin typeface="Calibri" pitchFamily="34" charset="0"/>
                <a:ea typeface="Calibri" pitchFamily="34" charset="-122"/>
                <a:cs typeface="Calibri" pitchFamily="34" charset="-120"/>
              </a:rPr>
              <a:t>Monetary Base</a:t>
            </a:r>
            <a:endParaRPr lang="en-US" sz="1333" dirty="0"/>
          </a:p>
        </p:txBody>
      </p:sp>
      <p:sp>
        <p:nvSpPr>
          <p:cNvPr id="26" name="Text 24"/>
          <p:cNvSpPr/>
          <p:nvPr/>
        </p:nvSpPr>
        <p:spPr>
          <a:xfrm>
            <a:off x="3474720" y="3514481"/>
            <a:ext cx="2133600" cy="268224"/>
          </a:xfrm>
          <a:prstGeom prst="rect">
            <a:avLst/>
          </a:prstGeom>
          <a:noFill/>
          <a:ln/>
        </p:spPr>
        <p:txBody>
          <a:bodyPr wrap="square" lIns="0" tIns="0" rIns="0" bIns="0" rtlCol="0" anchor="ctr"/>
          <a:lstStyle/>
          <a:p>
            <a:r>
              <a:rPr lang="en-US" sz="1333" dirty="0">
                <a:solidFill>
                  <a:srgbClr val="333333"/>
                </a:solidFill>
                <a:latin typeface="Calibri" pitchFamily="34" charset="0"/>
                <a:ea typeface="Calibri" pitchFamily="34" charset="-122"/>
                <a:cs typeface="Calibri" pitchFamily="34" charset="-120"/>
              </a:rPr>
              <a:t>Domestic Debt</a:t>
            </a:r>
            <a:endParaRPr lang="en-US" sz="1333" dirty="0"/>
          </a:p>
        </p:txBody>
      </p:sp>
      <p:sp>
        <p:nvSpPr>
          <p:cNvPr id="27" name="Shape 25"/>
          <p:cNvSpPr/>
          <p:nvPr/>
        </p:nvSpPr>
        <p:spPr>
          <a:xfrm>
            <a:off x="3377184" y="3270641"/>
            <a:ext cx="0" cy="463296"/>
          </a:xfrm>
          <a:prstGeom prst="line">
            <a:avLst/>
          </a:prstGeom>
          <a:noFill/>
          <a:ln w="10160">
            <a:solidFill>
              <a:srgbClr val="777777"/>
            </a:solidFill>
            <a:prstDash val="solid"/>
          </a:ln>
        </p:spPr>
        <p:txBody>
          <a:bodyPr/>
          <a:lstStyle/>
          <a:p>
            <a:endParaRPr lang="en-US" sz="2400"/>
          </a:p>
        </p:txBody>
      </p:sp>
      <p:sp>
        <p:nvSpPr>
          <p:cNvPr id="28" name="Text 26"/>
          <p:cNvSpPr/>
          <p:nvPr/>
        </p:nvSpPr>
        <p:spPr>
          <a:xfrm>
            <a:off x="6096000" y="1341120"/>
            <a:ext cx="5730240" cy="365760"/>
          </a:xfrm>
          <a:prstGeom prst="rect">
            <a:avLst/>
          </a:prstGeom>
          <a:noFill/>
          <a:ln/>
        </p:spPr>
        <p:txBody>
          <a:bodyPr wrap="square" lIns="0" tIns="0" rIns="0" bIns="0" rtlCol="0" anchor="ctr"/>
          <a:lstStyle/>
          <a:p>
            <a:r>
              <a:rPr lang="en-US" sz="1467" b="1" dirty="0">
                <a:solidFill>
                  <a:srgbClr val="2C5F8A"/>
                </a:solidFill>
                <a:latin typeface="Calibri" pitchFamily="34" charset="0"/>
                <a:ea typeface="Calibri" pitchFamily="34" charset="-122"/>
                <a:cs typeface="Calibri" pitchFamily="34" charset="-120"/>
              </a:rPr>
              <a:t>Contingent Claims Interpretation</a:t>
            </a:r>
            <a:endParaRPr lang="en-US" sz="1467" dirty="0"/>
          </a:p>
        </p:txBody>
      </p:sp>
      <p:sp>
        <p:nvSpPr>
          <p:cNvPr id="29" name="Shape 27"/>
          <p:cNvSpPr/>
          <p:nvPr/>
        </p:nvSpPr>
        <p:spPr>
          <a:xfrm>
            <a:off x="6096000" y="1828800"/>
            <a:ext cx="5730240" cy="731520"/>
          </a:xfrm>
          <a:prstGeom prst="rect">
            <a:avLst/>
          </a:prstGeom>
          <a:solidFill>
            <a:srgbClr val="F7F9FB"/>
          </a:solidFill>
          <a:ln w="10160">
            <a:solidFill>
              <a:srgbClr val="D0D8E0"/>
            </a:solidFill>
            <a:prstDash val="solid"/>
          </a:ln>
        </p:spPr>
        <p:txBody>
          <a:bodyPr/>
          <a:lstStyle/>
          <a:p>
            <a:endParaRPr lang="en-US" sz="2400"/>
          </a:p>
        </p:txBody>
      </p:sp>
      <p:sp>
        <p:nvSpPr>
          <p:cNvPr id="30" name="Text 28"/>
          <p:cNvSpPr/>
          <p:nvPr/>
        </p:nvSpPr>
        <p:spPr>
          <a:xfrm>
            <a:off x="6278880" y="1865376"/>
            <a:ext cx="5364480" cy="304800"/>
          </a:xfrm>
          <a:prstGeom prst="rect">
            <a:avLst/>
          </a:prstGeom>
          <a:noFill/>
          <a:ln/>
        </p:spPr>
        <p:txBody>
          <a:bodyPr wrap="square" lIns="0" tIns="0" rIns="0" bIns="0" rtlCol="0" anchor="ctr"/>
          <a:lstStyle/>
          <a:p>
            <a:r>
              <a:rPr lang="en-US" sz="1467" dirty="0">
                <a:solidFill>
                  <a:srgbClr val="1A1A1A"/>
                </a:solidFill>
                <a:latin typeface="Calibri" pitchFamily="34" charset="0"/>
                <a:ea typeface="Calibri" pitchFamily="34" charset="-122"/>
                <a:cs typeface="Calibri" pitchFamily="34" charset="-120"/>
              </a:rPr>
              <a:t>Local Currency Liabilities = </a:t>
            </a:r>
            <a:r>
              <a:rPr lang="en-US" sz="1467" b="1" dirty="0">
                <a:solidFill>
                  <a:srgbClr val="1A1A1A"/>
                </a:solidFill>
                <a:latin typeface="Calibri" pitchFamily="34" charset="0"/>
                <a:ea typeface="Calibri" pitchFamily="34" charset="-122"/>
                <a:cs typeface="Calibri" pitchFamily="34" charset="-120"/>
              </a:rPr>
              <a:t>Junior Claim</a:t>
            </a:r>
            <a:r>
              <a:rPr lang="en-US" sz="1467" b="1" dirty="0">
                <a:solidFill>
                  <a:srgbClr val="3A7D44"/>
                </a:solidFill>
                <a:latin typeface="Calibri" pitchFamily="34" charset="0"/>
                <a:ea typeface="Calibri" pitchFamily="34" charset="-122"/>
                <a:cs typeface="Calibri" pitchFamily="34" charset="-120"/>
              </a:rPr>
              <a:t> =  Call Option on A</a:t>
            </a:r>
            <a:endParaRPr lang="en-US" sz="1467" dirty="0"/>
          </a:p>
        </p:txBody>
      </p:sp>
      <p:sp>
        <p:nvSpPr>
          <p:cNvPr id="31" name="Text 29"/>
          <p:cNvSpPr/>
          <p:nvPr/>
        </p:nvSpPr>
        <p:spPr>
          <a:xfrm>
            <a:off x="6278880" y="2157984"/>
            <a:ext cx="5364480" cy="304800"/>
          </a:xfrm>
          <a:prstGeom prst="rect">
            <a:avLst/>
          </a:prstGeom>
          <a:noFill/>
          <a:ln/>
        </p:spPr>
        <p:txBody>
          <a:bodyPr wrap="square" lIns="0" tIns="0" rIns="0" bIns="0" rtlCol="0" anchor="ctr"/>
          <a:lstStyle/>
          <a:p>
            <a:r>
              <a:rPr lang="en-US" sz="1467" dirty="0">
                <a:solidFill>
                  <a:srgbClr val="2C5F8A"/>
                </a:solidFill>
                <a:latin typeface="Consolas" pitchFamily="34" charset="0"/>
                <a:ea typeface="Consolas" pitchFamily="34" charset="-122"/>
                <a:cs typeface="Consolas" pitchFamily="34" charset="-120"/>
              </a:rPr>
              <a:t>LCL  =  max( A − B , 0 )</a:t>
            </a:r>
            <a:endParaRPr lang="en-US" sz="1467" dirty="0"/>
          </a:p>
        </p:txBody>
      </p:sp>
      <p:sp>
        <p:nvSpPr>
          <p:cNvPr id="32" name="Shape 30"/>
          <p:cNvSpPr/>
          <p:nvPr/>
        </p:nvSpPr>
        <p:spPr>
          <a:xfrm>
            <a:off x="6096000" y="2682240"/>
            <a:ext cx="5730240" cy="731520"/>
          </a:xfrm>
          <a:prstGeom prst="rect">
            <a:avLst/>
          </a:prstGeom>
          <a:solidFill>
            <a:srgbClr val="FBF7F7"/>
          </a:solidFill>
          <a:ln w="10160">
            <a:solidFill>
              <a:srgbClr val="E0D0D0"/>
            </a:solidFill>
            <a:prstDash val="solid"/>
          </a:ln>
        </p:spPr>
        <p:txBody>
          <a:bodyPr/>
          <a:lstStyle/>
          <a:p>
            <a:endParaRPr lang="en-US" sz="2400"/>
          </a:p>
        </p:txBody>
      </p:sp>
      <p:sp>
        <p:nvSpPr>
          <p:cNvPr id="33" name="Text 31"/>
          <p:cNvSpPr/>
          <p:nvPr/>
        </p:nvSpPr>
        <p:spPr>
          <a:xfrm>
            <a:off x="6278880" y="2718816"/>
            <a:ext cx="5364480" cy="304800"/>
          </a:xfrm>
          <a:prstGeom prst="rect">
            <a:avLst/>
          </a:prstGeom>
          <a:noFill/>
          <a:ln/>
        </p:spPr>
        <p:txBody>
          <a:bodyPr wrap="square" lIns="0" tIns="0" rIns="0" bIns="0" rtlCol="0" anchor="ctr"/>
          <a:lstStyle/>
          <a:p>
            <a:r>
              <a:rPr lang="en-US" sz="1467" dirty="0">
                <a:solidFill>
                  <a:srgbClr val="1A1A1A"/>
                </a:solidFill>
                <a:latin typeface="Calibri" pitchFamily="34" charset="0"/>
                <a:ea typeface="Calibri" pitchFamily="34" charset="-122"/>
                <a:cs typeface="Calibri" pitchFamily="34" charset="-120"/>
              </a:rPr>
              <a:t>Foreign Currency Debt = </a:t>
            </a:r>
            <a:r>
              <a:rPr lang="en-US" sz="1467" b="1" dirty="0">
                <a:solidFill>
                  <a:srgbClr val="8B3A3A"/>
                </a:solidFill>
                <a:latin typeface="Calibri" pitchFamily="34" charset="0"/>
                <a:ea typeface="Calibri" pitchFamily="34" charset="-122"/>
                <a:cs typeface="Calibri" pitchFamily="34" charset="-120"/>
              </a:rPr>
              <a:t>Risk-Free Debt − Put Option</a:t>
            </a:r>
            <a:endParaRPr lang="en-US" sz="1467" dirty="0"/>
          </a:p>
        </p:txBody>
      </p:sp>
      <p:sp>
        <p:nvSpPr>
          <p:cNvPr id="34" name="Text 32"/>
          <p:cNvSpPr/>
          <p:nvPr/>
        </p:nvSpPr>
        <p:spPr>
          <a:xfrm>
            <a:off x="6278880" y="3011424"/>
            <a:ext cx="5364480" cy="304800"/>
          </a:xfrm>
          <a:prstGeom prst="rect">
            <a:avLst/>
          </a:prstGeom>
          <a:noFill/>
          <a:ln/>
        </p:spPr>
        <p:txBody>
          <a:bodyPr wrap="square" lIns="0" tIns="0" rIns="0" bIns="0" rtlCol="0" anchor="ctr"/>
          <a:lstStyle/>
          <a:p>
            <a:r>
              <a:rPr lang="en-US" sz="1467" dirty="0">
                <a:solidFill>
                  <a:srgbClr val="8B3A3A"/>
                </a:solidFill>
                <a:latin typeface="Consolas" pitchFamily="34" charset="0"/>
                <a:ea typeface="Consolas" pitchFamily="34" charset="-122"/>
                <a:cs typeface="Consolas" pitchFamily="34" charset="-120"/>
              </a:rPr>
              <a:t>FC Debt  =  B·e⁻ʳᵀ  −  P(A, B, σ_A, r, T)</a:t>
            </a:r>
            <a:endParaRPr lang="en-US" sz="1467" dirty="0"/>
          </a:p>
        </p:txBody>
      </p:sp>
      <p:sp>
        <p:nvSpPr>
          <p:cNvPr id="35" name="Shape 33"/>
          <p:cNvSpPr/>
          <p:nvPr/>
        </p:nvSpPr>
        <p:spPr>
          <a:xfrm>
            <a:off x="6096000" y="3621024"/>
            <a:ext cx="5730240" cy="609600"/>
          </a:xfrm>
          <a:prstGeom prst="rect">
            <a:avLst/>
          </a:prstGeom>
          <a:solidFill>
            <a:srgbClr val="1B2A4A"/>
          </a:solidFill>
          <a:ln/>
        </p:spPr>
        <p:txBody>
          <a:bodyPr/>
          <a:lstStyle/>
          <a:p>
            <a:endParaRPr lang="en-US" sz="2400"/>
          </a:p>
        </p:txBody>
      </p:sp>
      <p:sp>
        <p:nvSpPr>
          <p:cNvPr id="36" name="Text 34"/>
          <p:cNvSpPr/>
          <p:nvPr/>
        </p:nvSpPr>
        <p:spPr>
          <a:xfrm>
            <a:off x="6278880" y="3621024"/>
            <a:ext cx="5364480" cy="609600"/>
          </a:xfrm>
          <a:prstGeom prst="rect">
            <a:avLst/>
          </a:prstGeom>
          <a:noFill/>
          <a:ln/>
        </p:spPr>
        <p:txBody>
          <a:bodyPr wrap="square" lIns="0" tIns="0" rIns="0" bIns="0" rtlCol="0" anchor="ctr"/>
          <a:lstStyle/>
          <a:p>
            <a:pPr algn="ctr"/>
            <a:r>
              <a:rPr lang="en-US" sz="1600" b="1" dirty="0">
                <a:solidFill>
                  <a:srgbClr val="FFFFFF"/>
                </a:solidFill>
                <a:latin typeface="Calibri" pitchFamily="34" charset="0"/>
                <a:ea typeface="Calibri" pitchFamily="34" charset="-122"/>
                <a:cs typeface="Calibri" pitchFamily="34" charset="-120"/>
              </a:rPr>
              <a:t>Sovereign Credit Risk  =  Value of the Implicit Put Option</a:t>
            </a:r>
            <a:endParaRPr lang="en-US" sz="1600" dirty="0"/>
          </a:p>
        </p:txBody>
      </p:sp>
      <p:grpSp>
        <p:nvGrpSpPr>
          <p:cNvPr id="47" name="Group 46">
            <a:extLst>
              <a:ext uri="{FF2B5EF4-FFF2-40B4-BE49-F238E27FC236}">
                <a16:creationId xmlns:a16="http://schemas.microsoft.com/office/drawing/2014/main" id="{AEF5B921-3E12-3EEE-49B3-CCED2B0647B5}"/>
              </a:ext>
            </a:extLst>
          </p:cNvPr>
          <p:cNvGrpSpPr/>
          <p:nvPr/>
        </p:nvGrpSpPr>
        <p:grpSpPr>
          <a:xfrm>
            <a:off x="365760" y="4693920"/>
            <a:ext cx="11460480" cy="1645920"/>
            <a:chOff x="390144" y="4815840"/>
            <a:chExt cx="11460480" cy="1645920"/>
          </a:xfrm>
        </p:grpSpPr>
        <p:sp>
          <p:nvSpPr>
            <p:cNvPr id="38" name="Shape 36"/>
            <p:cNvSpPr/>
            <p:nvPr/>
          </p:nvSpPr>
          <p:spPr>
            <a:xfrm>
              <a:off x="390144" y="4815840"/>
              <a:ext cx="11460480" cy="1645920"/>
            </a:xfrm>
            <a:prstGeom prst="rect">
              <a:avLst/>
            </a:prstGeom>
            <a:solidFill>
              <a:srgbClr val="F5F5F0"/>
            </a:solidFill>
            <a:ln w="10160">
              <a:solidFill>
                <a:srgbClr val="DDDDD8"/>
              </a:solidFill>
              <a:prstDash val="solid"/>
            </a:ln>
          </p:spPr>
          <p:txBody>
            <a:bodyPr/>
            <a:lstStyle/>
            <a:p>
              <a:endParaRPr lang="en-US" sz="2400"/>
            </a:p>
          </p:txBody>
        </p:sp>
        <p:sp>
          <p:nvSpPr>
            <p:cNvPr id="39" name="Text 37"/>
            <p:cNvSpPr/>
            <p:nvPr/>
          </p:nvSpPr>
          <p:spPr>
            <a:xfrm>
              <a:off x="609600" y="4913376"/>
              <a:ext cx="2438400" cy="304800"/>
            </a:xfrm>
            <a:prstGeom prst="rect">
              <a:avLst/>
            </a:prstGeom>
            <a:noFill/>
            <a:ln/>
          </p:spPr>
          <p:txBody>
            <a:bodyPr wrap="square" lIns="0" tIns="0" rIns="0" bIns="0" rtlCol="0" anchor="ctr"/>
            <a:lstStyle/>
            <a:p>
              <a:r>
                <a:rPr lang="en-US" sz="1333" dirty="0">
                  <a:solidFill>
                    <a:srgbClr val="777777"/>
                  </a:solidFill>
                  <a:latin typeface="Calibri" pitchFamily="34" charset="0"/>
                  <a:ea typeface="Calibri" pitchFamily="34" charset="-122"/>
                  <a:cs typeface="Calibri" pitchFamily="34" charset="-120"/>
                </a:rPr>
                <a:t>(1)  Value equation:</a:t>
              </a:r>
              <a:endParaRPr lang="en-US" sz="1333" dirty="0"/>
            </a:p>
          </p:txBody>
        </p:sp>
        <p:sp>
          <p:nvSpPr>
            <p:cNvPr id="40" name="Text 38"/>
            <p:cNvSpPr/>
            <p:nvPr/>
          </p:nvSpPr>
          <p:spPr>
            <a:xfrm>
              <a:off x="3048000" y="4876800"/>
              <a:ext cx="7924800" cy="365760"/>
            </a:xfrm>
            <a:prstGeom prst="rect">
              <a:avLst/>
            </a:prstGeom>
            <a:noFill/>
            <a:ln/>
          </p:spPr>
          <p:txBody>
            <a:bodyPr wrap="square" lIns="0" tIns="0" rIns="0" bIns="0" rtlCol="0" anchor="ctr"/>
            <a:lstStyle/>
            <a:p>
              <a:r>
                <a:rPr lang="en-US" sz="1733" dirty="0">
                  <a:solidFill>
                    <a:srgbClr val="1A1A1A"/>
                  </a:solidFill>
                  <a:latin typeface="Consolas" pitchFamily="34" charset="0"/>
                  <a:ea typeface="Consolas" pitchFamily="34" charset="-122"/>
                  <a:cs typeface="Consolas" pitchFamily="34" charset="-120"/>
                </a:rPr>
                <a:t>LCL (USD)  =  A · N(d₁)  −  B · e⁻ʳᵀ · N(d₂)</a:t>
              </a:r>
              <a:endParaRPr lang="en-US" sz="1733" dirty="0"/>
            </a:p>
          </p:txBody>
        </p:sp>
        <p:sp>
          <p:nvSpPr>
            <p:cNvPr id="41" name="Text 39"/>
            <p:cNvSpPr/>
            <p:nvPr/>
          </p:nvSpPr>
          <p:spPr>
            <a:xfrm>
              <a:off x="3048000" y="5218176"/>
              <a:ext cx="8534400" cy="304800"/>
            </a:xfrm>
            <a:prstGeom prst="rect">
              <a:avLst/>
            </a:prstGeom>
            <a:noFill/>
            <a:ln/>
          </p:spPr>
          <p:txBody>
            <a:bodyPr wrap="square" lIns="0" tIns="0" rIns="0" bIns="0" rtlCol="0" anchor="ctr"/>
            <a:lstStyle/>
            <a:p>
              <a:r>
                <a:rPr lang="en-US" sz="1200" dirty="0">
                  <a:solidFill>
                    <a:srgbClr val="777777"/>
                  </a:solidFill>
                  <a:latin typeface="Consolas" pitchFamily="34" charset="0"/>
                  <a:ea typeface="Consolas" pitchFamily="34" charset="-122"/>
                  <a:cs typeface="Consolas" pitchFamily="34" charset="-120"/>
                </a:rPr>
                <a:t>d₁ = [ ln(A/B) + (r + ½σ²_A)T ] / (σ_A √T)          d₂ = d₁ − σ_A √T</a:t>
              </a:r>
              <a:endParaRPr lang="en-US" sz="1200" dirty="0"/>
            </a:p>
          </p:txBody>
        </p:sp>
        <p:sp>
          <p:nvSpPr>
            <p:cNvPr id="42" name="Shape 40"/>
            <p:cNvSpPr/>
            <p:nvPr/>
          </p:nvSpPr>
          <p:spPr>
            <a:xfrm>
              <a:off x="731520" y="5608320"/>
              <a:ext cx="10728960" cy="0"/>
            </a:xfrm>
            <a:prstGeom prst="line">
              <a:avLst/>
            </a:prstGeom>
            <a:noFill/>
            <a:ln w="6350">
              <a:solidFill>
                <a:srgbClr val="CCCCC8"/>
              </a:solidFill>
              <a:prstDash val="dash"/>
            </a:ln>
          </p:spPr>
          <p:txBody>
            <a:bodyPr/>
            <a:lstStyle/>
            <a:p>
              <a:endParaRPr lang="en-US" sz="2400"/>
            </a:p>
          </p:txBody>
        </p:sp>
        <p:sp>
          <p:nvSpPr>
            <p:cNvPr id="43" name="Text 41"/>
            <p:cNvSpPr/>
            <p:nvPr/>
          </p:nvSpPr>
          <p:spPr>
            <a:xfrm>
              <a:off x="609600" y="5730240"/>
              <a:ext cx="2438400" cy="304800"/>
            </a:xfrm>
            <a:prstGeom prst="rect">
              <a:avLst/>
            </a:prstGeom>
            <a:noFill/>
            <a:ln/>
          </p:spPr>
          <p:txBody>
            <a:bodyPr wrap="square" lIns="0" tIns="0" rIns="0" bIns="0" rtlCol="0" anchor="ctr"/>
            <a:lstStyle/>
            <a:p>
              <a:r>
                <a:rPr lang="en-US" sz="1333" dirty="0">
                  <a:solidFill>
                    <a:srgbClr val="777777"/>
                  </a:solidFill>
                  <a:latin typeface="Calibri" pitchFamily="34" charset="0"/>
                  <a:ea typeface="Calibri" pitchFamily="34" charset="-122"/>
                  <a:cs typeface="Calibri" pitchFamily="34" charset="-120"/>
                </a:rPr>
                <a:t>(2)  Volatility transfer:</a:t>
              </a:r>
              <a:endParaRPr lang="en-US" sz="1333" dirty="0"/>
            </a:p>
          </p:txBody>
        </p:sp>
        <p:sp>
          <p:nvSpPr>
            <p:cNvPr id="44" name="Text 42"/>
            <p:cNvSpPr/>
            <p:nvPr/>
          </p:nvSpPr>
          <p:spPr>
            <a:xfrm>
              <a:off x="3048000" y="5693664"/>
              <a:ext cx="7924800" cy="365760"/>
            </a:xfrm>
            <a:prstGeom prst="rect">
              <a:avLst/>
            </a:prstGeom>
            <a:noFill/>
            <a:ln/>
          </p:spPr>
          <p:txBody>
            <a:bodyPr wrap="square" lIns="0" tIns="0" rIns="0" bIns="0" rtlCol="0" anchor="ctr"/>
            <a:lstStyle/>
            <a:p>
              <a:r>
                <a:rPr lang="en-US" sz="1733" dirty="0">
                  <a:solidFill>
                    <a:srgbClr val="1A1A1A"/>
                  </a:solidFill>
                  <a:latin typeface="Consolas" pitchFamily="34" charset="0"/>
                  <a:ea typeface="Consolas" pitchFamily="34" charset="-122"/>
                  <a:cs typeface="Consolas" pitchFamily="34" charset="-120"/>
                </a:rPr>
                <a:t>σ_LCL · LCL  =  N(d₁) · σ_A · A</a:t>
              </a:r>
              <a:endParaRPr lang="en-US" sz="1733" dirty="0"/>
            </a:p>
          </p:txBody>
        </p:sp>
      </p:grpSp>
      <p:grpSp>
        <p:nvGrpSpPr>
          <p:cNvPr id="55" name="Group 54">
            <a:extLst>
              <a:ext uri="{FF2B5EF4-FFF2-40B4-BE49-F238E27FC236}">
                <a16:creationId xmlns:a16="http://schemas.microsoft.com/office/drawing/2014/main" id="{AF3BEFAD-F0AF-BDEF-24C6-4B5A8116DC67}"/>
              </a:ext>
            </a:extLst>
          </p:cNvPr>
          <p:cNvGrpSpPr/>
          <p:nvPr/>
        </p:nvGrpSpPr>
        <p:grpSpPr>
          <a:xfrm>
            <a:off x="3355879" y="3824003"/>
            <a:ext cx="1984215" cy="480527"/>
            <a:chOff x="542543" y="3749040"/>
            <a:chExt cx="2621281" cy="876732"/>
          </a:xfrm>
        </p:grpSpPr>
        <p:sp>
          <p:nvSpPr>
            <p:cNvPr id="49" name="Shape 13">
              <a:extLst>
                <a:ext uri="{FF2B5EF4-FFF2-40B4-BE49-F238E27FC236}">
                  <a16:creationId xmlns:a16="http://schemas.microsoft.com/office/drawing/2014/main" id="{86E0D258-F7F6-4B53-360B-307F860C1E06}"/>
                </a:ext>
              </a:extLst>
            </p:cNvPr>
            <p:cNvSpPr/>
            <p:nvPr/>
          </p:nvSpPr>
          <p:spPr>
            <a:xfrm>
              <a:off x="725424" y="3749040"/>
              <a:ext cx="0" cy="146304"/>
            </a:xfrm>
            <a:prstGeom prst="line">
              <a:avLst/>
            </a:prstGeom>
            <a:noFill/>
            <a:ln w="12700">
              <a:solidFill>
                <a:srgbClr val="777777"/>
              </a:solidFill>
              <a:prstDash val="solid"/>
            </a:ln>
          </p:spPr>
          <p:txBody>
            <a:bodyPr/>
            <a:lstStyle/>
            <a:p>
              <a:endParaRPr lang="en-US" sz="2400"/>
            </a:p>
          </p:txBody>
        </p:sp>
        <p:sp>
          <p:nvSpPr>
            <p:cNvPr id="50" name="Shape 14">
              <a:extLst>
                <a:ext uri="{FF2B5EF4-FFF2-40B4-BE49-F238E27FC236}">
                  <a16:creationId xmlns:a16="http://schemas.microsoft.com/office/drawing/2014/main" id="{4BCEF4B3-9F5F-E438-2F3E-A592DDFE6B5C}"/>
                </a:ext>
              </a:extLst>
            </p:cNvPr>
            <p:cNvSpPr/>
            <p:nvPr/>
          </p:nvSpPr>
          <p:spPr>
            <a:xfrm>
              <a:off x="2859024" y="3749040"/>
              <a:ext cx="0" cy="146304"/>
            </a:xfrm>
            <a:prstGeom prst="line">
              <a:avLst/>
            </a:prstGeom>
            <a:noFill/>
            <a:ln w="12700">
              <a:solidFill>
                <a:srgbClr val="777777"/>
              </a:solidFill>
              <a:prstDash val="solid"/>
            </a:ln>
          </p:spPr>
          <p:txBody>
            <a:bodyPr/>
            <a:lstStyle/>
            <a:p>
              <a:endParaRPr lang="en-US" sz="2400"/>
            </a:p>
          </p:txBody>
        </p:sp>
        <p:sp>
          <p:nvSpPr>
            <p:cNvPr id="51" name="Shape 15">
              <a:extLst>
                <a:ext uri="{FF2B5EF4-FFF2-40B4-BE49-F238E27FC236}">
                  <a16:creationId xmlns:a16="http://schemas.microsoft.com/office/drawing/2014/main" id="{20A23A6E-363A-D671-515E-F5316D3152E4}"/>
                </a:ext>
              </a:extLst>
            </p:cNvPr>
            <p:cNvSpPr/>
            <p:nvPr/>
          </p:nvSpPr>
          <p:spPr>
            <a:xfrm>
              <a:off x="725424" y="3895344"/>
              <a:ext cx="2133600" cy="0"/>
            </a:xfrm>
            <a:prstGeom prst="line">
              <a:avLst/>
            </a:prstGeom>
            <a:noFill/>
            <a:ln w="12700">
              <a:solidFill>
                <a:srgbClr val="777777"/>
              </a:solidFill>
              <a:prstDash val="solid"/>
            </a:ln>
          </p:spPr>
          <p:txBody>
            <a:bodyPr/>
            <a:lstStyle/>
            <a:p>
              <a:endParaRPr lang="en-US" sz="2400"/>
            </a:p>
          </p:txBody>
        </p:sp>
        <p:sp>
          <p:nvSpPr>
            <p:cNvPr id="52" name="Shape 16">
              <a:extLst>
                <a:ext uri="{FF2B5EF4-FFF2-40B4-BE49-F238E27FC236}">
                  <a16:creationId xmlns:a16="http://schemas.microsoft.com/office/drawing/2014/main" id="{9C9F63DC-3778-76FB-8762-1A74EB5B0D66}"/>
                </a:ext>
              </a:extLst>
            </p:cNvPr>
            <p:cNvSpPr/>
            <p:nvPr/>
          </p:nvSpPr>
          <p:spPr>
            <a:xfrm>
              <a:off x="1792224" y="3895344"/>
              <a:ext cx="0" cy="121920"/>
            </a:xfrm>
            <a:prstGeom prst="line">
              <a:avLst/>
            </a:prstGeom>
            <a:noFill/>
            <a:ln w="12700">
              <a:solidFill>
                <a:srgbClr val="777777"/>
              </a:solidFill>
              <a:prstDash val="solid"/>
            </a:ln>
          </p:spPr>
          <p:txBody>
            <a:bodyPr/>
            <a:lstStyle/>
            <a:p>
              <a:endParaRPr lang="en-US" sz="2400"/>
            </a:p>
          </p:txBody>
        </p:sp>
        <p:sp>
          <p:nvSpPr>
            <p:cNvPr id="53" name="Text 17">
              <a:extLst>
                <a:ext uri="{FF2B5EF4-FFF2-40B4-BE49-F238E27FC236}">
                  <a16:creationId xmlns:a16="http://schemas.microsoft.com/office/drawing/2014/main" id="{8BFCE82F-5D61-E318-6349-53CE5EC71C4F}"/>
                </a:ext>
              </a:extLst>
            </p:cNvPr>
            <p:cNvSpPr/>
            <p:nvPr/>
          </p:nvSpPr>
          <p:spPr>
            <a:xfrm>
              <a:off x="542544" y="4053840"/>
              <a:ext cx="2621280" cy="341376"/>
            </a:xfrm>
            <a:prstGeom prst="rect">
              <a:avLst/>
            </a:prstGeom>
            <a:noFill/>
            <a:ln/>
          </p:spPr>
          <p:txBody>
            <a:bodyPr wrap="square" lIns="0" tIns="0" rIns="0" bIns="0" rtlCol="0" anchor="ctr"/>
            <a:lstStyle/>
            <a:p>
              <a:pPr algn="ctr"/>
              <a:r>
                <a:rPr lang="en-US" sz="1200" i="1" dirty="0">
                  <a:solidFill>
                    <a:srgbClr val="2C5F8A"/>
                  </a:solidFill>
                  <a:latin typeface="Calibri" pitchFamily="34" charset="0"/>
                  <a:ea typeface="Calibri" pitchFamily="34" charset="-122"/>
                  <a:cs typeface="Calibri" pitchFamily="34" charset="-120"/>
                </a:rPr>
                <a:t>Equity claim</a:t>
              </a:r>
              <a:endParaRPr lang="en-US" sz="1200" dirty="0"/>
            </a:p>
          </p:txBody>
        </p:sp>
        <p:sp>
          <p:nvSpPr>
            <p:cNvPr id="54" name="Text 18">
              <a:extLst>
                <a:ext uri="{FF2B5EF4-FFF2-40B4-BE49-F238E27FC236}">
                  <a16:creationId xmlns:a16="http://schemas.microsoft.com/office/drawing/2014/main" id="{644B1C5C-EE5D-6F7F-BB88-938157EFB86B}"/>
                </a:ext>
              </a:extLst>
            </p:cNvPr>
            <p:cNvSpPr/>
            <p:nvPr/>
          </p:nvSpPr>
          <p:spPr>
            <a:xfrm>
              <a:off x="542543" y="4357548"/>
              <a:ext cx="2621280" cy="268224"/>
            </a:xfrm>
            <a:prstGeom prst="rect">
              <a:avLst/>
            </a:prstGeom>
            <a:noFill/>
            <a:ln/>
          </p:spPr>
          <p:txBody>
            <a:bodyPr wrap="square" lIns="0" tIns="0" rIns="0" bIns="0" rtlCol="0" anchor="ctr"/>
            <a:lstStyle/>
            <a:p>
              <a:pPr algn="ctr"/>
              <a:r>
                <a:rPr lang="en-US" sz="1067" i="1" dirty="0">
                  <a:solidFill>
                    <a:srgbClr val="777777"/>
                  </a:solidFill>
                  <a:latin typeface="Calibri" pitchFamily="34" charset="0"/>
                  <a:ea typeface="Calibri" pitchFamily="34" charset="-122"/>
                  <a:cs typeface="Calibri" pitchFamily="34" charset="-120"/>
                </a:rPr>
                <a:t>(observable)</a:t>
              </a:r>
              <a:endParaRPr lang="en-US" sz="1067" dirty="0"/>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87680" y="243840"/>
            <a:ext cx="11216640" cy="609600"/>
          </a:xfrm>
          <a:prstGeom prst="rect">
            <a:avLst/>
          </a:prstGeom>
          <a:noFill/>
          <a:ln/>
        </p:spPr>
        <p:txBody>
          <a:bodyPr wrap="square" lIns="0" tIns="0" rIns="0" bIns="0" rtlCol="0" anchor="ctr"/>
          <a:lstStyle/>
          <a:p>
            <a:r>
              <a:rPr lang="en-US" sz="2933" b="1" dirty="0">
                <a:solidFill>
                  <a:srgbClr val="1A1A2E"/>
                </a:solidFill>
                <a:latin typeface="Georgia" pitchFamily="34" charset="0"/>
                <a:ea typeface="Georgia" pitchFamily="34" charset="-122"/>
                <a:cs typeface="Georgia" pitchFamily="34" charset="-120"/>
              </a:rPr>
              <a:t>Proposed Model Extensions &amp; Testing</a:t>
            </a:r>
            <a:endParaRPr lang="en-US" sz="2933" dirty="0"/>
          </a:p>
        </p:txBody>
      </p:sp>
      <p:grpSp>
        <p:nvGrpSpPr>
          <p:cNvPr id="26" name="Group 25">
            <a:extLst>
              <a:ext uri="{FF2B5EF4-FFF2-40B4-BE49-F238E27FC236}">
                <a16:creationId xmlns:a16="http://schemas.microsoft.com/office/drawing/2014/main" id="{94F577C0-CD89-1CF7-500A-A17F24893FEA}"/>
              </a:ext>
            </a:extLst>
          </p:cNvPr>
          <p:cNvGrpSpPr/>
          <p:nvPr/>
        </p:nvGrpSpPr>
        <p:grpSpPr>
          <a:xfrm>
            <a:off x="518160" y="990776"/>
            <a:ext cx="5425440" cy="3108960"/>
            <a:chOff x="487680" y="1280160"/>
            <a:chExt cx="5425440" cy="3108960"/>
          </a:xfrm>
        </p:grpSpPr>
        <p:sp>
          <p:nvSpPr>
            <p:cNvPr id="4" name="Shape 2"/>
            <p:cNvSpPr/>
            <p:nvPr/>
          </p:nvSpPr>
          <p:spPr>
            <a:xfrm>
              <a:off x="487680" y="1280160"/>
              <a:ext cx="5425440" cy="3108960"/>
            </a:xfrm>
            <a:prstGeom prst="rect">
              <a:avLst/>
            </a:prstGeom>
            <a:solidFill>
              <a:srgbClr val="FFF3E0"/>
            </a:solidFill>
            <a:ln w="19050">
              <a:solidFill>
                <a:srgbClr val="C47F17"/>
              </a:solidFill>
              <a:prstDash val="solid"/>
            </a:ln>
          </p:spPr>
          <p:txBody>
            <a:bodyPr/>
            <a:lstStyle/>
            <a:p>
              <a:endParaRPr lang="en-US" sz="2400"/>
            </a:p>
          </p:txBody>
        </p:sp>
        <p:sp>
          <p:nvSpPr>
            <p:cNvPr id="5" name="Shape 3"/>
            <p:cNvSpPr/>
            <p:nvPr/>
          </p:nvSpPr>
          <p:spPr>
            <a:xfrm>
              <a:off x="487680" y="1280160"/>
              <a:ext cx="73152" cy="3108960"/>
            </a:xfrm>
            <a:prstGeom prst="rect">
              <a:avLst/>
            </a:prstGeom>
            <a:solidFill>
              <a:srgbClr val="C47F17"/>
            </a:solidFill>
            <a:ln/>
          </p:spPr>
          <p:txBody>
            <a:bodyPr/>
            <a:lstStyle/>
            <a:p>
              <a:endParaRPr lang="en-US" sz="2400"/>
            </a:p>
          </p:txBody>
        </p:sp>
        <p:sp>
          <p:nvSpPr>
            <p:cNvPr id="6" name="Text 4"/>
            <p:cNvSpPr/>
            <p:nvPr/>
          </p:nvSpPr>
          <p:spPr>
            <a:xfrm>
              <a:off x="707136" y="1402080"/>
              <a:ext cx="4998720" cy="426720"/>
            </a:xfrm>
            <a:prstGeom prst="rect">
              <a:avLst/>
            </a:prstGeom>
            <a:noFill/>
            <a:ln/>
          </p:spPr>
          <p:txBody>
            <a:bodyPr wrap="square" lIns="0" tIns="0" rIns="0" bIns="0" rtlCol="0" anchor="ctr"/>
            <a:lstStyle/>
            <a:p>
              <a:r>
                <a:rPr lang="en-US" sz="1733" b="1" dirty="0">
                  <a:solidFill>
                    <a:srgbClr val="5C3A0A"/>
                  </a:solidFill>
                  <a:latin typeface="Calibri" pitchFamily="34" charset="0"/>
                  <a:ea typeface="Calibri" pitchFamily="34" charset="-122"/>
                  <a:cs typeface="Calibri" pitchFamily="34" charset="-120"/>
                </a:rPr>
                <a:t>Extension 1: Oil-Adjusted Exchange Rate</a:t>
              </a:r>
              <a:endParaRPr lang="en-US" sz="1733" dirty="0"/>
            </a:p>
          </p:txBody>
        </p:sp>
        <p:sp>
          <p:nvSpPr>
            <p:cNvPr id="7" name="Text 5"/>
            <p:cNvSpPr/>
            <p:nvPr/>
          </p:nvSpPr>
          <p:spPr>
            <a:xfrm>
              <a:off x="707136" y="1767840"/>
              <a:ext cx="4998720" cy="268224"/>
            </a:xfrm>
            <a:prstGeom prst="rect">
              <a:avLst/>
            </a:prstGeom>
            <a:noFill/>
            <a:ln/>
          </p:spPr>
          <p:txBody>
            <a:bodyPr wrap="square" lIns="0" tIns="0" rIns="0" bIns="0" rtlCol="0" anchor="ctr"/>
            <a:lstStyle/>
            <a:p>
              <a:r>
                <a:rPr lang="en-US" sz="1200" i="1" dirty="0">
                  <a:solidFill>
                    <a:srgbClr val="999999"/>
                  </a:solidFill>
                  <a:latin typeface="Calibri" pitchFamily="34" charset="0"/>
                  <a:ea typeface="Calibri" pitchFamily="34" charset="-122"/>
                  <a:cs typeface="Calibri" pitchFamily="34" charset="-120"/>
                </a:rPr>
                <a:t>Motivated by Category II (evidence d, e)</a:t>
              </a:r>
              <a:endParaRPr lang="en-US" sz="1200" dirty="0"/>
            </a:p>
          </p:txBody>
        </p:sp>
        <p:sp>
          <p:nvSpPr>
            <p:cNvPr id="8" name="Text 6"/>
            <p:cNvSpPr/>
            <p:nvPr/>
          </p:nvSpPr>
          <p:spPr>
            <a:xfrm>
              <a:off x="707136" y="2072640"/>
              <a:ext cx="4998720" cy="2133600"/>
            </a:xfrm>
            <a:prstGeom prst="rect">
              <a:avLst/>
            </a:prstGeom>
            <a:noFill/>
            <a:ln/>
          </p:spPr>
          <p:txBody>
            <a:bodyPr wrap="square" lIns="0" tIns="0" rIns="0" bIns="0" rtlCol="0" anchor="t"/>
            <a:lstStyle/>
            <a:p>
              <a:pPr>
                <a:lnSpc>
                  <a:spcPct val="110000"/>
                </a:lnSpc>
              </a:pPr>
              <a:r>
                <a:rPr lang="en-US" sz="1333" b="1" dirty="0">
                  <a:solidFill>
                    <a:srgbClr val="5C3A0A"/>
                  </a:solidFill>
                  <a:latin typeface="Calibri" pitchFamily="34" charset="0"/>
                  <a:ea typeface="Calibri" pitchFamily="34" charset="-122"/>
                  <a:cs typeface="Calibri" pitchFamily="34" charset="-120"/>
                </a:rPr>
                <a:t>What it captures:</a:t>
              </a:r>
              <a:endParaRPr lang="en-US" sz="1333" dirty="0"/>
            </a:p>
            <a:p>
              <a:pPr>
                <a:lnSpc>
                  <a:spcPct val="110000"/>
                </a:lnSpc>
              </a:pPr>
              <a:r>
                <a:rPr lang="en-US" sz="1267" dirty="0">
                  <a:solidFill>
                    <a:srgbClr val="3A3A3A"/>
                  </a:solidFill>
                  <a:latin typeface="Calibri" pitchFamily="34" charset="0"/>
                  <a:cs typeface="Calibri" pitchFamily="34" charset="-120"/>
                </a:rPr>
                <a:t>The baseline CCA converts local currency liabilities into USD at the spot rate. We let the exporter currencies become more or less valuable with the price of oil, which makes the equity claim reflect oil price dynamics</a:t>
              </a:r>
            </a:p>
            <a:p>
              <a:pPr>
                <a:lnSpc>
                  <a:spcPct val="110000"/>
                </a:lnSpc>
              </a:pPr>
              <a:endParaRPr lang="en-US" sz="1333" dirty="0"/>
            </a:p>
            <a:p>
              <a:pPr>
                <a:lnSpc>
                  <a:spcPct val="110000"/>
                </a:lnSpc>
              </a:pPr>
              <a:r>
                <a:rPr lang="en-US" sz="1333" b="1" dirty="0">
                  <a:solidFill>
                    <a:srgbClr val="5C3A0A"/>
                  </a:solidFill>
                  <a:latin typeface="Calibri" pitchFamily="34" charset="0"/>
                  <a:ea typeface="Calibri" pitchFamily="34" charset="-122"/>
                  <a:cs typeface="Calibri" pitchFamily="34" charset="-120"/>
                </a:rPr>
                <a:t>Mechanism:</a:t>
              </a:r>
              <a:endParaRPr lang="en-US" sz="1333" dirty="0"/>
            </a:p>
            <a:p>
              <a:pPr>
                <a:lnSpc>
                  <a:spcPct val="110000"/>
                </a:lnSpc>
              </a:pPr>
              <a:r>
                <a:rPr lang="en-US" sz="1267" dirty="0">
                  <a:solidFill>
                    <a:srgbClr val="3A3A3A"/>
                  </a:solidFill>
                  <a:latin typeface="Calibri" pitchFamily="34" charset="0"/>
                  <a:ea typeface="Calibri" pitchFamily="34" charset="-122"/>
                  <a:cs typeface="Calibri" pitchFamily="34" charset="-120"/>
                </a:rPr>
                <a:t>Oil high → adjusted FX stronger → LCL(USD) larger → equity more valuable → lower risk</a:t>
              </a:r>
              <a:endParaRPr lang="en-US" sz="1333" dirty="0"/>
            </a:p>
            <a:p>
              <a:pPr>
                <a:lnSpc>
                  <a:spcPct val="110000"/>
                </a:lnSpc>
              </a:pPr>
              <a:r>
                <a:rPr lang="en-US" sz="1267" dirty="0">
                  <a:solidFill>
                    <a:srgbClr val="3A3A3A"/>
                  </a:solidFill>
                  <a:latin typeface="Calibri" pitchFamily="34" charset="0"/>
                  <a:ea typeface="Calibri" pitchFamily="34" charset="-122"/>
                  <a:cs typeface="Calibri" pitchFamily="34" charset="-120"/>
                </a:rPr>
                <a:t>Oil low → adjusted FX weaker → LCL(USD) smaller → equity less valuable → higher risk</a:t>
              </a:r>
              <a:endParaRPr lang="en-US" sz="1333" dirty="0"/>
            </a:p>
          </p:txBody>
        </p:sp>
      </p:grpSp>
      <p:grpSp>
        <p:nvGrpSpPr>
          <p:cNvPr id="27" name="Group 26">
            <a:extLst>
              <a:ext uri="{FF2B5EF4-FFF2-40B4-BE49-F238E27FC236}">
                <a16:creationId xmlns:a16="http://schemas.microsoft.com/office/drawing/2014/main" id="{7963C14E-7A21-79DF-29DF-6F86AC39081A}"/>
              </a:ext>
            </a:extLst>
          </p:cNvPr>
          <p:cNvGrpSpPr/>
          <p:nvPr/>
        </p:nvGrpSpPr>
        <p:grpSpPr>
          <a:xfrm>
            <a:off x="6278880" y="990776"/>
            <a:ext cx="5425440" cy="3108960"/>
            <a:chOff x="6278880" y="1280160"/>
            <a:chExt cx="5425440" cy="3108960"/>
          </a:xfrm>
        </p:grpSpPr>
        <p:sp>
          <p:nvSpPr>
            <p:cNvPr id="9" name="Shape 7"/>
            <p:cNvSpPr/>
            <p:nvPr/>
          </p:nvSpPr>
          <p:spPr>
            <a:xfrm>
              <a:off x="6278880" y="1280160"/>
              <a:ext cx="5425440" cy="3108960"/>
            </a:xfrm>
            <a:prstGeom prst="rect">
              <a:avLst/>
            </a:prstGeom>
            <a:solidFill>
              <a:srgbClr val="E0F2E9"/>
            </a:solidFill>
            <a:ln w="19050">
              <a:solidFill>
                <a:srgbClr val="3A8A5C"/>
              </a:solidFill>
              <a:prstDash val="solid"/>
            </a:ln>
          </p:spPr>
          <p:txBody>
            <a:bodyPr/>
            <a:lstStyle/>
            <a:p>
              <a:endParaRPr lang="en-US" sz="2400"/>
            </a:p>
          </p:txBody>
        </p:sp>
        <p:sp>
          <p:nvSpPr>
            <p:cNvPr id="10" name="Shape 8"/>
            <p:cNvSpPr/>
            <p:nvPr/>
          </p:nvSpPr>
          <p:spPr>
            <a:xfrm>
              <a:off x="6278880" y="1280160"/>
              <a:ext cx="73152" cy="3108960"/>
            </a:xfrm>
            <a:prstGeom prst="rect">
              <a:avLst/>
            </a:prstGeom>
            <a:solidFill>
              <a:srgbClr val="3A8A5C"/>
            </a:solidFill>
            <a:ln/>
          </p:spPr>
          <p:txBody>
            <a:bodyPr/>
            <a:lstStyle/>
            <a:p>
              <a:endParaRPr lang="en-US" sz="2400"/>
            </a:p>
          </p:txBody>
        </p:sp>
        <p:sp>
          <p:nvSpPr>
            <p:cNvPr id="11" name="Text 9"/>
            <p:cNvSpPr/>
            <p:nvPr/>
          </p:nvSpPr>
          <p:spPr>
            <a:xfrm>
              <a:off x="6498336" y="1402080"/>
              <a:ext cx="4998720" cy="426720"/>
            </a:xfrm>
            <a:prstGeom prst="rect">
              <a:avLst/>
            </a:prstGeom>
            <a:noFill/>
            <a:ln/>
          </p:spPr>
          <p:txBody>
            <a:bodyPr wrap="square" lIns="0" tIns="0" rIns="0" bIns="0" rtlCol="0" anchor="ctr"/>
            <a:lstStyle/>
            <a:p>
              <a:r>
                <a:rPr lang="en-US" sz="1733" b="1" dirty="0">
                  <a:solidFill>
                    <a:srgbClr val="1A4A2E"/>
                  </a:solidFill>
                  <a:latin typeface="Calibri" pitchFamily="34" charset="0"/>
                  <a:ea typeface="Calibri" pitchFamily="34" charset="-122"/>
                  <a:cs typeface="Calibri" pitchFamily="34" charset="-120"/>
                </a:rPr>
                <a:t>Extension 2: Jump-Diffusion Asset Dynamics</a:t>
              </a:r>
              <a:endParaRPr lang="en-US" sz="1733" dirty="0"/>
            </a:p>
          </p:txBody>
        </p:sp>
        <p:sp>
          <p:nvSpPr>
            <p:cNvPr id="12" name="Text 10"/>
            <p:cNvSpPr/>
            <p:nvPr/>
          </p:nvSpPr>
          <p:spPr>
            <a:xfrm>
              <a:off x="6498336" y="1767840"/>
              <a:ext cx="4998720" cy="268224"/>
            </a:xfrm>
            <a:prstGeom prst="rect">
              <a:avLst/>
            </a:prstGeom>
            <a:noFill/>
            <a:ln/>
          </p:spPr>
          <p:txBody>
            <a:bodyPr wrap="square" lIns="0" tIns="0" rIns="0" bIns="0" rtlCol="0" anchor="ctr"/>
            <a:lstStyle/>
            <a:p>
              <a:r>
                <a:rPr lang="en-US" sz="1200" i="1" dirty="0">
                  <a:solidFill>
                    <a:srgbClr val="999999"/>
                  </a:solidFill>
                  <a:latin typeface="Calibri" pitchFamily="34" charset="0"/>
                  <a:ea typeface="Calibri" pitchFamily="34" charset="-122"/>
                  <a:cs typeface="Calibri" pitchFamily="34" charset="-120"/>
                </a:rPr>
                <a:t>Motivated by Category III (evidence f, g)</a:t>
              </a:r>
              <a:endParaRPr lang="en-US" sz="1200" dirty="0"/>
            </a:p>
          </p:txBody>
        </p:sp>
        <p:sp>
          <p:nvSpPr>
            <p:cNvPr id="13" name="Text 11"/>
            <p:cNvSpPr/>
            <p:nvPr/>
          </p:nvSpPr>
          <p:spPr>
            <a:xfrm>
              <a:off x="6498336" y="2072640"/>
              <a:ext cx="4998720" cy="2133600"/>
            </a:xfrm>
            <a:prstGeom prst="rect">
              <a:avLst/>
            </a:prstGeom>
            <a:noFill/>
            <a:ln/>
          </p:spPr>
          <p:txBody>
            <a:bodyPr wrap="square" lIns="0" tIns="0" rIns="0" bIns="0" rtlCol="0" anchor="t"/>
            <a:lstStyle/>
            <a:p>
              <a:pPr>
                <a:lnSpc>
                  <a:spcPct val="110000"/>
                </a:lnSpc>
              </a:pPr>
              <a:r>
                <a:rPr lang="en-US" sz="1333" b="1" dirty="0">
                  <a:solidFill>
                    <a:srgbClr val="1A4A2E"/>
                  </a:solidFill>
                  <a:latin typeface="Calibri" pitchFamily="34" charset="0"/>
                  <a:ea typeface="Calibri" pitchFamily="34" charset="-122"/>
                  <a:cs typeface="Calibri" pitchFamily="34" charset="-120"/>
                </a:rPr>
                <a:t>What it captures:</a:t>
              </a:r>
              <a:endParaRPr lang="en-US" sz="1333" dirty="0"/>
            </a:p>
            <a:p>
              <a:pPr>
                <a:lnSpc>
                  <a:spcPct val="110000"/>
                </a:lnSpc>
              </a:pPr>
              <a:r>
                <a:rPr lang="en-US" sz="1267" dirty="0">
                  <a:solidFill>
                    <a:srgbClr val="3A3A3A"/>
                  </a:solidFill>
                  <a:latin typeface="Calibri" pitchFamily="34" charset="0"/>
                  <a:ea typeface="Calibri" pitchFamily="34" charset="-122"/>
                  <a:cs typeface="Calibri" pitchFamily="34" charset="-120"/>
                </a:rPr>
                <a:t>The baseline CCA uses geometric Brownian motion (continuous). This extension adds sudden negative shocks. The sovereign asset value can drop suddenly.</a:t>
              </a:r>
            </a:p>
            <a:p>
              <a:pPr>
                <a:lnSpc>
                  <a:spcPct val="110000"/>
                </a:lnSpc>
              </a:pPr>
              <a:endParaRPr lang="en-US" sz="1333" dirty="0"/>
            </a:p>
            <a:p>
              <a:pPr>
                <a:lnSpc>
                  <a:spcPct val="110000"/>
                </a:lnSpc>
              </a:pPr>
              <a:r>
                <a:rPr lang="en-US" sz="1333" b="1" dirty="0">
                  <a:solidFill>
                    <a:srgbClr val="1A4A2E"/>
                  </a:solidFill>
                  <a:latin typeface="Calibri" pitchFamily="34" charset="0"/>
                  <a:ea typeface="Calibri" pitchFamily="34" charset="-122"/>
                  <a:cs typeface="Calibri" pitchFamily="34" charset="-120"/>
                </a:rPr>
                <a:t>Calibration:</a:t>
              </a:r>
              <a:endParaRPr lang="en-US" sz="1333" dirty="0"/>
            </a:p>
            <a:p>
              <a:pPr>
                <a:lnSpc>
                  <a:spcPct val="110000"/>
                </a:lnSpc>
              </a:pPr>
              <a:r>
                <a:rPr lang="en-US" sz="1267" dirty="0">
                  <a:solidFill>
                    <a:srgbClr val="3A3A3A"/>
                  </a:solidFill>
                  <a:latin typeface="Calibri" pitchFamily="34" charset="0"/>
                  <a:ea typeface="Calibri" pitchFamily="34" charset="-122"/>
                  <a:cs typeface="Calibri" pitchFamily="34" charset="-120"/>
                </a:rPr>
                <a:t>Jump intensity (λ) linked to OVX — high oil volatility → more frequent jumps. → higher risk during high stress regimes</a:t>
              </a:r>
              <a:endParaRPr lang="en-US" sz="1333" dirty="0"/>
            </a:p>
          </p:txBody>
        </p:sp>
      </p:grpSp>
      <p:grpSp>
        <p:nvGrpSpPr>
          <p:cNvPr id="29" name="Group 28">
            <a:extLst>
              <a:ext uri="{FF2B5EF4-FFF2-40B4-BE49-F238E27FC236}">
                <a16:creationId xmlns:a16="http://schemas.microsoft.com/office/drawing/2014/main" id="{9E5BD6A6-7282-5424-D5B2-434F0ACD3F74}"/>
              </a:ext>
            </a:extLst>
          </p:cNvPr>
          <p:cNvGrpSpPr/>
          <p:nvPr/>
        </p:nvGrpSpPr>
        <p:grpSpPr>
          <a:xfrm>
            <a:off x="487680" y="4465496"/>
            <a:ext cx="11216640" cy="1950720"/>
            <a:chOff x="487680" y="4693920"/>
            <a:chExt cx="11216640" cy="1950720"/>
          </a:xfrm>
        </p:grpSpPr>
        <p:sp>
          <p:nvSpPr>
            <p:cNvPr id="14" name="Shape 12"/>
            <p:cNvSpPr/>
            <p:nvPr/>
          </p:nvSpPr>
          <p:spPr>
            <a:xfrm>
              <a:off x="487680" y="4693920"/>
              <a:ext cx="11216640" cy="1950720"/>
            </a:xfrm>
            <a:prstGeom prst="rect">
              <a:avLst/>
            </a:prstGeom>
            <a:solidFill>
              <a:srgbClr val="F0F0FA"/>
            </a:solidFill>
            <a:ln w="15240">
              <a:solidFill>
                <a:srgbClr val="5C5C8A"/>
              </a:solidFill>
              <a:prstDash val="solid"/>
            </a:ln>
          </p:spPr>
          <p:txBody>
            <a:bodyPr/>
            <a:lstStyle/>
            <a:p>
              <a:endParaRPr lang="en-US" sz="2400"/>
            </a:p>
          </p:txBody>
        </p:sp>
        <p:sp>
          <p:nvSpPr>
            <p:cNvPr id="15" name="Text 13"/>
            <p:cNvSpPr/>
            <p:nvPr/>
          </p:nvSpPr>
          <p:spPr>
            <a:xfrm>
              <a:off x="707136" y="4791456"/>
              <a:ext cx="10972800" cy="365760"/>
            </a:xfrm>
            <a:prstGeom prst="rect">
              <a:avLst/>
            </a:prstGeom>
            <a:noFill/>
            <a:ln/>
          </p:spPr>
          <p:txBody>
            <a:bodyPr wrap="square" lIns="0" tIns="0" rIns="0" bIns="0" rtlCol="0" anchor="ctr"/>
            <a:lstStyle/>
            <a:p>
              <a:r>
                <a:rPr lang="en-US" sz="1733" b="1" dirty="0">
                  <a:solidFill>
                    <a:srgbClr val="2A2A3E"/>
                  </a:solidFill>
                  <a:latin typeface="Calibri" pitchFamily="34" charset="0"/>
                  <a:ea typeface="Calibri" pitchFamily="34" charset="-122"/>
                  <a:cs typeface="Calibri" pitchFamily="34" charset="-120"/>
                </a:rPr>
                <a:t>How we test: three-model comparison</a:t>
              </a:r>
              <a:endParaRPr lang="en-US" sz="1733" dirty="0"/>
            </a:p>
          </p:txBody>
        </p:sp>
        <p:sp>
          <p:nvSpPr>
            <p:cNvPr id="16" name="Shape 14"/>
            <p:cNvSpPr/>
            <p:nvPr/>
          </p:nvSpPr>
          <p:spPr>
            <a:xfrm>
              <a:off x="853440" y="5242560"/>
              <a:ext cx="3108960" cy="548640"/>
            </a:xfrm>
            <a:prstGeom prst="rect">
              <a:avLst/>
            </a:prstGeom>
            <a:solidFill>
              <a:srgbClr val="E8E8E8"/>
            </a:solidFill>
            <a:ln w="12700">
              <a:solidFill>
                <a:srgbClr val="AAAAAA"/>
              </a:solidFill>
              <a:prstDash val="solid"/>
            </a:ln>
          </p:spPr>
          <p:txBody>
            <a:bodyPr/>
            <a:lstStyle/>
            <a:p>
              <a:endParaRPr lang="en-US" sz="2400"/>
            </a:p>
          </p:txBody>
        </p:sp>
        <p:sp>
          <p:nvSpPr>
            <p:cNvPr id="17" name="Text 15"/>
            <p:cNvSpPr/>
            <p:nvPr/>
          </p:nvSpPr>
          <p:spPr>
            <a:xfrm>
              <a:off x="853440" y="5242560"/>
              <a:ext cx="3108960" cy="548640"/>
            </a:xfrm>
            <a:prstGeom prst="rect">
              <a:avLst/>
            </a:prstGeom>
            <a:noFill/>
            <a:ln/>
          </p:spPr>
          <p:txBody>
            <a:bodyPr wrap="square" lIns="0" tIns="0" rIns="0" bIns="0" rtlCol="0" anchor="ctr"/>
            <a:lstStyle/>
            <a:p>
              <a:pPr algn="ctr"/>
              <a:r>
                <a:rPr lang="en-US" sz="1333" b="1" dirty="0">
                  <a:solidFill>
                    <a:srgbClr val="444444"/>
                  </a:solidFill>
                  <a:latin typeface="Calibri" pitchFamily="34" charset="0"/>
                  <a:ea typeface="Calibri" pitchFamily="34" charset="-122"/>
                  <a:cs typeface="Calibri" pitchFamily="34" charset="-120"/>
                </a:rPr>
                <a:t>Model A: </a:t>
              </a:r>
              <a:r>
                <a:rPr lang="en-US" sz="1333" dirty="0">
                  <a:solidFill>
                    <a:srgbClr val="666666"/>
                  </a:solidFill>
                  <a:latin typeface="Calibri" pitchFamily="34" charset="0"/>
                  <a:ea typeface="Calibri" pitchFamily="34" charset="-122"/>
                  <a:cs typeface="Calibri" pitchFamily="34" charset="-120"/>
                </a:rPr>
                <a:t>Baseline CCA</a:t>
              </a:r>
              <a:endParaRPr lang="en-US" sz="1333" dirty="0"/>
            </a:p>
          </p:txBody>
        </p:sp>
        <p:sp>
          <p:nvSpPr>
            <p:cNvPr id="18" name="Shape 16"/>
            <p:cNvSpPr/>
            <p:nvPr/>
          </p:nvSpPr>
          <p:spPr>
            <a:xfrm>
              <a:off x="3986784" y="5516880"/>
              <a:ext cx="377952" cy="0"/>
            </a:xfrm>
            <a:prstGeom prst="line">
              <a:avLst/>
            </a:prstGeom>
            <a:noFill/>
            <a:ln w="12700">
              <a:solidFill>
                <a:srgbClr val="888888"/>
              </a:solidFill>
              <a:prstDash val="solid"/>
              <a:tailEnd type="triangle"/>
            </a:ln>
          </p:spPr>
          <p:txBody>
            <a:bodyPr/>
            <a:lstStyle/>
            <a:p>
              <a:endParaRPr lang="en-US" sz="2400"/>
            </a:p>
          </p:txBody>
        </p:sp>
        <p:sp>
          <p:nvSpPr>
            <p:cNvPr id="19" name="Shape 17"/>
            <p:cNvSpPr/>
            <p:nvPr/>
          </p:nvSpPr>
          <p:spPr>
            <a:xfrm>
              <a:off x="4389120" y="5242560"/>
              <a:ext cx="3108960" cy="548640"/>
            </a:xfrm>
            <a:prstGeom prst="rect">
              <a:avLst/>
            </a:prstGeom>
            <a:solidFill>
              <a:srgbClr val="FFF8ED"/>
            </a:solidFill>
            <a:ln w="12700">
              <a:solidFill>
                <a:srgbClr val="C47F17"/>
              </a:solidFill>
              <a:prstDash val="solid"/>
            </a:ln>
          </p:spPr>
          <p:txBody>
            <a:bodyPr/>
            <a:lstStyle/>
            <a:p>
              <a:endParaRPr lang="en-US" sz="2400"/>
            </a:p>
          </p:txBody>
        </p:sp>
        <p:sp>
          <p:nvSpPr>
            <p:cNvPr id="20" name="Text 18"/>
            <p:cNvSpPr/>
            <p:nvPr/>
          </p:nvSpPr>
          <p:spPr>
            <a:xfrm>
              <a:off x="4389120" y="5242560"/>
              <a:ext cx="3108960" cy="548640"/>
            </a:xfrm>
            <a:prstGeom prst="rect">
              <a:avLst/>
            </a:prstGeom>
            <a:noFill/>
            <a:ln/>
          </p:spPr>
          <p:txBody>
            <a:bodyPr wrap="square" lIns="0" tIns="0" rIns="0" bIns="0" rtlCol="0" anchor="ctr"/>
            <a:lstStyle/>
            <a:p>
              <a:pPr algn="ctr"/>
              <a:r>
                <a:rPr lang="en-US" sz="1333" b="1" dirty="0">
                  <a:solidFill>
                    <a:srgbClr val="5C3A0A"/>
                  </a:solidFill>
                  <a:latin typeface="Calibri" pitchFamily="34" charset="0"/>
                  <a:ea typeface="Calibri" pitchFamily="34" charset="-122"/>
                  <a:cs typeface="Calibri" pitchFamily="34" charset="-120"/>
                </a:rPr>
                <a:t>Model B: </a:t>
              </a:r>
              <a:r>
                <a:rPr lang="en-US" sz="1333" dirty="0">
                  <a:solidFill>
                    <a:srgbClr val="5C3A0A"/>
                  </a:solidFill>
                  <a:latin typeface="Calibri" pitchFamily="34" charset="0"/>
                  <a:ea typeface="Calibri" pitchFamily="34" charset="-122"/>
                  <a:cs typeface="Calibri" pitchFamily="34" charset="-120"/>
                </a:rPr>
                <a:t>CCA + FX adjustment</a:t>
              </a:r>
              <a:endParaRPr lang="en-US" sz="1333" dirty="0"/>
            </a:p>
          </p:txBody>
        </p:sp>
        <p:sp>
          <p:nvSpPr>
            <p:cNvPr id="21" name="Shape 19"/>
            <p:cNvSpPr/>
            <p:nvPr/>
          </p:nvSpPr>
          <p:spPr>
            <a:xfrm>
              <a:off x="7522464" y="5516880"/>
              <a:ext cx="377952" cy="0"/>
            </a:xfrm>
            <a:prstGeom prst="line">
              <a:avLst/>
            </a:prstGeom>
            <a:noFill/>
            <a:ln w="12700">
              <a:solidFill>
                <a:srgbClr val="888888"/>
              </a:solidFill>
              <a:prstDash val="solid"/>
              <a:tailEnd type="triangle"/>
            </a:ln>
          </p:spPr>
          <p:txBody>
            <a:bodyPr/>
            <a:lstStyle/>
            <a:p>
              <a:endParaRPr lang="en-US" sz="2400"/>
            </a:p>
          </p:txBody>
        </p:sp>
        <p:sp>
          <p:nvSpPr>
            <p:cNvPr id="22" name="Shape 20"/>
            <p:cNvSpPr/>
            <p:nvPr/>
          </p:nvSpPr>
          <p:spPr>
            <a:xfrm>
              <a:off x="7924800" y="5242560"/>
              <a:ext cx="3108960" cy="548640"/>
            </a:xfrm>
            <a:prstGeom prst="rect">
              <a:avLst/>
            </a:prstGeom>
            <a:solidFill>
              <a:srgbClr val="EDFAF3"/>
            </a:solidFill>
            <a:ln w="12700">
              <a:solidFill>
                <a:srgbClr val="3A8A5C"/>
              </a:solidFill>
              <a:prstDash val="solid"/>
            </a:ln>
          </p:spPr>
          <p:txBody>
            <a:bodyPr/>
            <a:lstStyle/>
            <a:p>
              <a:endParaRPr lang="en-US" sz="2400"/>
            </a:p>
          </p:txBody>
        </p:sp>
        <p:sp>
          <p:nvSpPr>
            <p:cNvPr id="23" name="Text 21"/>
            <p:cNvSpPr/>
            <p:nvPr/>
          </p:nvSpPr>
          <p:spPr>
            <a:xfrm>
              <a:off x="7924800" y="5242560"/>
              <a:ext cx="3108960" cy="548640"/>
            </a:xfrm>
            <a:prstGeom prst="rect">
              <a:avLst/>
            </a:prstGeom>
            <a:noFill/>
            <a:ln/>
          </p:spPr>
          <p:txBody>
            <a:bodyPr wrap="square" lIns="0" tIns="0" rIns="0" bIns="0" rtlCol="0" anchor="ctr"/>
            <a:lstStyle/>
            <a:p>
              <a:pPr algn="ctr"/>
              <a:r>
                <a:rPr lang="en-US" sz="1333" b="1" dirty="0">
                  <a:solidFill>
                    <a:srgbClr val="1A4A2E"/>
                  </a:solidFill>
                  <a:latin typeface="Calibri" pitchFamily="34" charset="0"/>
                  <a:ea typeface="Calibri" pitchFamily="34" charset="-122"/>
                  <a:cs typeface="Calibri" pitchFamily="34" charset="-120"/>
                </a:rPr>
                <a:t>Model C: </a:t>
              </a:r>
              <a:r>
                <a:rPr lang="en-US" sz="1333" dirty="0">
                  <a:solidFill>
                    <a:srgbClr val="1A4A2E"/>
                  </a:solidFill>
                  <a:latin typeface="Calibri" pitchFamily="34" charset="0"/>
                  <a:ea typeface="Calibri" pitchFamily="34" charset="-122"/>
                  <a:cs typeface="Calibri" pitchFamily="34" charset="-120"/>
                </a:rPr>
                <a:t>CCA + jump-adjustment</a:t>
              </a:r>
              <a:endParaRPr lang="en-US" sz="1333" dirty="0"/>
            </a:p>
          </p:txBody>
        </p:sp>
        <p:sp>
          <p:nvSpPr>
            <p:cNvPr id="24" name="Text 22"/>
            <p:cNvSpPr/>
            <p:nvPr/>
          </p:nvSpPr>
          <p:spPr>
            <a:xfrm>
              <a:off x="853440" y="5913120"/>
              <a:ext cx="10607040" cy="731520"/>
            </a:xfrm>
            <a:prstGeom prst="rect">
              <a:avLst/>
            </a:prstGeom>
            <a:noFill/>
            <a:ln/>
          </p:spPr>
          <p:txBody>
            <a:bodyPr wrap="square" lIns="0" tIns="0" rIns="0" bIns="0" rtlCol="0" anchor="t"/>
            <a:lstStyle/>
            <a:p>
              <a:pPr>
                <a:lnSpc>
                  <a:spcPct val="115000"/>
                </a:lnSpc>
              </a:pPr>
              <a:r>
                <a:rPr lang="en-US" sz="1267" dirty="0">
                  <a:solidFill>
                    <a:srgbClr val="3A3A3A"/>
                  </a:solidFill>
                  <a:latin typeface="Calibri" pitchFamily="34" charset="0"/>
                  <a:ea typeface="Calibri" pitchFamily="34" charset="-122"/>
                  <a:cs typeface="Calibri" pitchFamily="34" charset="-120"/>
                </a:rPr>
                <a:t>Each model produces a distance to distress metric (measure of how many </a:t>
              </a:r>
              <a:r>
                <a:rPr lang="en-US" sz="1267" dirty="0" err="1">
                  <a:solidFill>
                    <a:srgbClr val="3A3A3A"/>
                  </a:solidFill>
                  <a:latin typeface="Calibri" pitchFamily="34" charset="0"/>
                  <a:ea typeface="Calibri" pitchFamily="34" charset="-122"/>
                  <a:cs typeface="Calibri" pitchFamily="34" charset="-120"/>
                </a:rPr>
                <a:t>stdev</a:t>
              </a:r>
              <a:r>
                <a:rPr lang="en-US" sz="1267" dirty="0">
                  <a:solidFill>
                    <a:srgbClr val="3A3A3A"/>
                  </a:solidFill>
                  <a:latin typeface="Calibri" pitchFamily="34" charset="0"/>
                  <a:ea typeface="Calibri" pitchFamily="34" charset="-122"/>
                  <a:cs typeface="Calibri" pitchFamily="34" charset="-120"/>
                </a:rPr>
                <a:t> is the sovereign asset value away from the distress barrier). We compare them against market CDS spreads using correlation and R^2. The model extensions should produce higher R^2 in exporters but produce no changes in importers.</a:t>
              </a: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390</TotalTime>
  <Words>1079</Words>
  <Application>Microsoft Macintosh PowerPoint</Application>
  <PresentationFormat>Widescreen</PresentationFormat>
  <Paragraphs>105</Paragraphs>
  <Slides>5</Slides>
  <Notes>4</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5</vt:i4>
      </vt:variant>
    </vt:vector>
  </HeadingPairs>
  <TitlesOfParts>
    <vt:vector size="12" baseType="lpstr">
      <vt:lpstr>Aptos</vt:lpstr>
      <vt:lpstr>Aptos Display</vt:lpstr>
      <vt:lpstr>Arial</vt:lpstr>
      <vt:lpstr>Calibri</vt:lpstr>
      <vt:lpstr>Consolas</vt:lpstr>
      <vt:lpstr>Georgia</vt:lpstr>
      <vt:lpstr>Office Theme</vt:lpstr>
      <vt:lpstr>Pricing Sovereign Credit Risk in Oil-Exporting Economies</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Juan Francisco Perez</dc:creator>
  <cp:lastModifiedBy>Juan Francisco Perez</cp:lastModifiedBy>
  <cp:revision>1</cp:revision>
  <dcterms:created xsi:type="dcterms:W3CDTF">2026-02-09T11:16:48Z</dcterms:created>
  <dcterms:modified xsi:type="dcterms:W3CDTF">2026-02-09T17:47:22Z</dcterms:modified>
</cp:coreProperties>
</file>